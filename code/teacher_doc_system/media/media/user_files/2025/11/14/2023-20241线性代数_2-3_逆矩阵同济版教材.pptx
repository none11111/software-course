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66" r:id="rId2"/>
    <p:sldId id="356" r:id="rId3"/>
    <p:sldId id="357" r:id="rId4"/>
    <p:sldId id="370" r:id="rId5"/>
    <p:sldId id="368" r:id="rId6"/>
    <p:sldId id="369" r:id="rId7"/>
    <p:sldId id="360" r:id="rId8"/>
    <p:sldId id="337" r:id="rId9"/>
    <p:sldId id="338" r:id="rId10"/>
    <p:sldId id="362" r:id="rId11"/>
    <p:sldId id="340" r:id="rId12"/>
    <p:sldId id="361" r:id="rId13"/>
    <p:sldId id="372" r:id="rId14"/>
    <p:sldId id="351" r:id="rId15"/>
    <p:sldId id="363" r:id="rId16"/>
    <p:sldId id="364" r:id="rId17"/>
    <p:sldId id="341" r:id="rId18"/>
    <p:sldId id="342" r:id="rId19"/>
    <p:sldId id="343" r:id="rId20"/>
    <p:sldId id="373" r:id="rId21"/>
    <p:sldId id="354" r:id="rId22"/>
    <p:sldId id="355" r:id="rId23"/>
    <p:sldId id="347" r:id="rId24"/>
    <p:sldId id="365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1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2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89F67-C3ED-41F3-884F-63FC55BBCB4F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F1188-A8CE-40D1-BCED-07CDFB4867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9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F1188-A8CE-40D1-BCED-07CDFB48673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705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8413-DABA-49EB-BBE7-FFE9A42F108F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5B9B5-DCE8-4D15-AFA2-308F97A95836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4298-CCFD-421D-B0AD-990059EEEEE0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69BF-5FD7-4145-A31A-D5ACE923924A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CEB5-18D2-4D2E-9A3E-92FE37F51861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8F14-1228-4DA2-8A9E-B5E5DB3762FB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2A96-1464-4BD5-BEFF-0966173482D7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2877-BFD0-4DDA-AEC9-8F8F56E4F8A2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D160-4462-4277-AC8A-DA2D409F62EA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9F25B-2D3E-4E65-91B5-01D6DF448B8E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221B-30AF-4A02-AB68-3EEB847D7DAF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641A3-F109-4D69-8ADE-AE5721F08F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4755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61F13-DA9C-4B2E-A577-E23646D76F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3692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EB2E9-70F6-43D0-9103-7B20EC948F7A}" type="datetime1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1211.png"/><Relationship Id="rId3" Type="http://schemas.openxmlformats.org/officeDocument/2006/relationships/image" Target="../media/image215.png"/><Relationship Id="rId7" Type="http://schemas.openxmlformats.org/officeDocument/2006/relationships/image" Target="../media/image611.png"/><Relationship Id="rId12" Type="http://schemas.openxmlformats.org/officeDocument/2006/relationships/image" Target="../media/image1111.png"/><Relationship Id="rId2" Type="http://schemas.openxmlformats.org/officeDocument/2006/relationships/image" Target="../media/image110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0.png"/><Relationship Id="rId11" Type="http://schemas.openxmlformats.org/officeDocument/2006/relationships/image" Target="../media/image1010.png"/><Relationship Id="rId5" Type="http://schemas.openxmlformats.org/officeDocument/2006/relationships/image" Target="../media/image412.png"/><Relationship Id="rId10" Type="http://schemas.openxmlformats.org/officeDocument/2006/relationships/image" Target="../media/image910.png"/><Relationship Id="rId4" Type="http://schemas.openxmlformats.org/officeDocument/2006/relationships/image" Target="../media/image311.png"/><Relationship Id="rId9" Type="http://schemas.openxmlformats.org/officeDocument/2006/relationships/image" Target="../media/image8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0.png"/><Relationship Id="rId13" Type="http://schemas.openxmlformats.org/officeDocument/2006/relationships/image" Target="../media/image249.png"/><Relationship Id="rId3" Type="http://schemas.openxmlformats.org/officeDocument/2006/relationships/image" Target="../media/image1510.png"/><Relationship Id="rId7" Type="http://schemas.openxmlformats.org/officeDocument/2006/relationships/image" Target="../media/image1910.png"/><Relationship Id="rId12" Type="http://schemas.openxmlformats.org/officeDocument/2006/relationships/image" Target="../media/image234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10.png"/><Relationship Id="rId11" Type="http://schemas.openxmlformats.org/officeDocument/2006/relationships/image" Target="../media/image220.png"/><Relationship Id="rId5" Type="http://schemas.openxmlformats.org/officeDocument/2006/relationships/image" Target="../media/image1710.png"/><Relationship Id="rId10" Type="http://schemas.openxmlformats.org/officeDocument/2006/relationships/image" Target="../media/image214.png"/><Relationship Id="rId4" Type="http://schemas.openxmlformats.org/officeDocument/2006/relationships/image" Target="../media/image1610.png"/><Relationship Id="rId9" Type="http://schemas.openxmlformats.org/officeDocument/2006/relationships/image" Target="../media/image2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0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1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56.png"/><Relationship Id="rId7" Type="http://schemas.openxmlformats.org/officeDocument/2006/relationships/image" Target="../media/image45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1.png"/><Relationship Id="rId4" Type="http://schemas.openxmlformats.org/officeDocument/2006/relationships/image" Target="../media/image37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13" Type="http://schemas.openxmlformats.org/officeDocument/2006/relationships/image" Target="../media/image431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21" Type="http://schemas.openxmlformats.org/officeDocument/2006/relationships/image" Target="../media/image51.png"/><Relationship Id="rId12" Type="http://schemas.openxmlformats.org/officeDocument/2006/relationships/image" Target="../media/image421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61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11" Type="http://schemas.openxmlformats.org/officeDocument/2006/relationships/image" Target="../media/image411.png"/><Relationship Id="rId24" Type="http://schemas.openxmlformats.org/officeDocument/2006/relationships/image" Target="../media/image54.png"/><Relationship Id="rId5" Type="http://schemas.openxmlformats.org/officeDocument/2006/relationships/image" Target="../media/image450.png"/><Relationship Id="rId15" Type="http://schemas.openxmlformats.org/officeDocument/2006/relationships/image" Target="../media/image451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401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9" Type="http://schemas.openxmlformats.org/officeDocument/2006/relationships/image" Target="../media/image391.png"/><Relationship Id="rId14" Type="http://schemas.openxmlformats.org/officeDocument/2006/relationships/image" Target="../media/image441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65.png"/><Relationship Id="rId3" Type="http://schemas.openxmlformats.org/officeDocument/2006/relationships/image" Target="../media/image68.png"/><Relationship Id="rId21" Type="http://schemas.openxmlformats.org/officeDocument/2006/relationships/image" Target="../media/image82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64.png"/><Relationship Id="rId2" Type="http://schemas.openxmlformats.org/officeDocument/2006/relationships/image" Target="../media/image67.png"/><Relationship Id="rId16" Type="http://schemas.openxmlformats.org/officeDocument/2006/relationships/image" Target="../media/image631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4.png"/><Relationship Id="rId10" Type="http://schemas.openxmlformats.org/officeDocument/2006/relationships/image" Target="../media/image75.png"/><Relationship Id="rId19" Type="http://schemas.openxmlformats.org/officeDocument/2006/relationships/image" Target="../media/image66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png"/><Relationship Id="rId18" Type="http://schemas.openxmlformats.org/officeDocument/2006/relationships/image" Target="../media/image108.png"/><Relationship Id="rId3" Type="http://schemas.openxmlformats.org/officeDocument/2006/relationships/image" Target="../media/image93.png"/><Relationship Id="rId12" Type="http://schemas.openxmlformats.org/officeDocument/2006/relationships/image" Target="../media/image102.png"/><Relationship Id="rId2" Type="http://schemas.openxmlformats.org/officeDocument/2006/relationships/image" Target="../media/image92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7.png"/><Relationship Id="rId11" Type="http://schemas.openxmlformats.org/officeDocument/2006/relationships/image" Target="../media/image88.png"/><Relationship Id="rId24" Type="http://schemas.openxmlformats.org/officeDocument/2006/relationships/image" Target="../media/image95.png"/><Relationship Id="rId5" Type="http://schemas.openxmlformats.org/officeDocument/2006/relationships/image" Target="../media/image86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94.png"/><Relationship Id="rId4" Type="http://schemas.openxmlformats.org/officeDocument/2006/relationships/image" Target="../media/image85.png"/><Relationship Id="rId9" Type="http://schemas.openxmlformats.org/officeDocument/2006/relationships/image" Target="../media/image99.png"/><Relationship Id="rId1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400.png"/><Relationship Id="rId3" Type="http://schemas.openxmlformats.org/officeDocument/2006/relationships/image" Target="../media/image113.png"/><Relationship Id="rId7" Type="http://schemas.openxmlformats.org/officeDocument/2006/relationships/image" Target="../media/image340.png"/><Relationship Id="rId12" Type="http://schemas.openxmlformats.org/officeDocument/2006/relationships/image" Target="../media/image39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1" Type="http://schemas.openxmlformats.org/officeDocument/2006/relationships/image" Target="../media/image380.png"/><Relationship Id="rId5" Type="http://schemas.openxmlformats.org/officeDocument/2006/relationships/image" Target="../media/image110.png"/><Relationship Id="rId10" Type="http://schemas.openxmlformats.org/officeDocument/2006/relationships/image" Target="../media/image370.png"/><Relationship Id="rId4" Type="http://schemas.openxmlformats.org/officeDocument/2006/relationships/image" Target="../media/image310.png"/><Relationship Id="rId9" Type="http://schemas.openxmlformats.org/officeDocument/2006/relationships/image" Target="../media/image114.png"/><Relationship Id="rId14" Type="http://schemas.openxmlformats.org/officeDocument/2006/relationships/image" Target="../media/image4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119.png"/><Relationship Id="rId18" Type="http://schemas.openxmlformats.org/officeDocument/2006/relationships/image" Target="../media/image123.png"/><Relationship Id="rId3" Type="http://schemas.openxmlformats.org/officeDocument/2006/relationships/image" Target="../media/image430.png"/><Relationship Id="rId7" Type="http://schemas.openxmlformats.org/officeDocument/2006/relationships/image" Target="../media/image480.png"/><Relationship Id="rId12" Type="http://schemas.openxmlformats.org/officeDocument/2006/relationships/image" Target="../media/image118.png"/><Relationship Id="rId17" Type="http://schemas.openxmlformats.org/officeDocument/2006/relationships/image" Target="../media/image580.png"/><Relationship Id="rId2" Type="http://schemas.openxmlformats.org/officeDocument/2006/relationships/image" Target="../media/image420.png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17.png"/><Relationship Id="rId5" Type="http://schemas.openxmlformats.org/officeDocument/2006/relationships/image" Target="../media/image1141.png"/><Relationship Id="rId15" Type="http://schemas.openxmlformats.org/officeDocument/2006/relationships/image" Target="../media/image121.png"/><Relationship Id="rId10" Type="http://schemas.openxmlformats.org/officeDocument/2006/relationships/image" Target="../media/image116.png"/><Relationship Id="rId4" Type="http://schemas.openxmlformats.org/officeDocument/2006/relationships/image" Target="../media/image440.png"/><Relationship Id="rId9" Type="http://schemas.openxmlformats.org/officeDocument/2006/relationships/image" Target="../media/image500.png"/><Relationship Id="rId1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13" Type="http://schemas.openxmlformats.org/officeDocument/2006/relationships/image" Target="../media/image1090.png"/><Relationship Id="rId18" Type="http://schemas.openxmlformats.org/officeDocument/2006/relationships/image" Target="../media/image101.png"/><Relationship Id="rId3" Type="http://schemas.openxmlformats.org/officeDocument/2006/relationships/image" Target="../media/image610.png"/><Relationship Id="rId7" Type="http://schemas.openxmlformats.org/officeDocument/2006/relationships/image" Target="../media/image97.png"/><Relationship Id="rId12" Type="http://schemas.openxmlformats.org/officeDocument/2006/relationships/image" Target="../media/image1080.png"/><Relationship Id="rId17" Type="http://schemas.openxmlformats.org/officeDocument/2006/relationships/image" Target="../media/image1130.png"/><Relationship Id="rId2" Type="http://schemas.openxmlformats.org/officeDocument/2006/relationships/image" Target="../media/image600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6.png"/><Relationship Id="rId11" Type="http://schemas.openxmlformats.org/officeDocument/2006/relationships/image" Target="../media/image1070.png"/><Relationship Id="rId5" Type="http://schemas.openxmlformats.org/officeDocument/2006/relationships/image" Target="../media/image630.png"/><Relationship Id="rId15" Type="http://schemas.openxmlformats.org/officeDocument/2006/relationships/image" Target="../media/image1110.png"/><Relationship Id="rId10" Type="http://schemas.openxmlformats.org/officeDocument/2006/relationships/image" Target="../media/image1060.png"/><Relationship Id="rId4" Type="http://schemas.openxmlformats.org/officeDocument/2006/relationships/image" Target="../media/image620.png"/><Relationship Id="rId9" Type="http://schemas.openxmlformats.org/officeDocument/2006/relationships/image" Target="../media/image1050.png"/><Relationship Id="rId14" Type="http://schemas.openxmlformats.org/officeDocument/2006/relationships/image" Target="../media/image11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106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image" Target="../media/image104.png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09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4" Type="http://schemas.openxmlformats.org/officeDocument/2006/relationships/image" Target="../media/image107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00.png"/><Relationship Id="rId21" Type="http://schemas.openxmlformats.org/officeDocument/2006/relationships/image" Target="../media/image174.png"/><Relationship Id="rId25" Type="http://schemas.openxmlformats.org/officeDocument/2006/relationships/image" Target="../media/image1190.png"/><Relationship Id="rId2" Type="http://schemas.openxmlformats.org/officeDocument/2006/relationships/image" Target="../media/image1271.png"/><Relationship Id="rId20" Type="http://schemas.openxmlformats.org/officeDocument/2006/relationships/image" Target="../media/image173.png"/><Relationship Id="rId29" Type="http://schemas.openxmlformats.org/officeDocument/2006/relationships/image" Target="../media/image1230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1180.png"/><Relationship Id="rId32" Type="http://schemas.openxmlformats.org/officeDocument/2006/relationships/image" Target="../media/image1260.png"/><Relationship Id="rId23" Type="http://schemas.openxmlformats.org/officeDocument/2006/relationships/image" Target="../media/image1170.png"/><Relationship Id="rId28" Type="http://schemas.openxmlformats.org/officeDocument/2006/relationships/image" Target="../media/image1220.png"/><Relationship Id="rId31" Type="http://schemas.openxmlformats.org/officeDocument/2006/relationships/image" Target="../media/image1250.png"/><Relationship Id="rId22" Type="http://schemas.openxmlformats.org/officeDocument/2006/relationships/image" Target="../media/image1160.png"/><Relationship Id="rId27" Type="http://schemas.openxmlformats.org/officeDocument/2006/relationships/image" Target="../media/image1210.png"/><Relationship Id="rId30" Type="http://schemas.openxmlformats.org/officeDocument/2006/relationships/image" Target="../media/image12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1.png"/><Relationship Id="rId13" Type="http://schemas.openxmlformats.org/officeDocument/2006/relationships/image" Target="../media/image840.png"/><Relationship Id="rId3" Type="http://schemas.openxmlformats.org/officeDocument/2006/relationships/image" Target="../media/image1180.png"/><Relationship Id="rId7" Type="http://schemas.openxmlformats.org/officeDocument/2006/relationships/image" Target="../media/image1300.png"/><Relationship Id="rId2" Type="http://schemas.openxmlformats.org/officeDocument/2006/relationships/image" Target="../media/image12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0.png"/><Relationship Id="rId11" Type="http://schemas.openxmlformats.org/officeDocument/2006/relationships/image" Target="../media/image1340.png"/><Relationship Id="rId5" Type="http://schemas.openxmlformats.org/officeDocument/2006/relationships/image" Target="../media/image1280.png"/><Relationship Id="rId10" Type="http://schemas.openxmlformats.org/officeDocument/2006/relationships/image" Target="../media/image1330.png"/><Relationship Id="rId4" Type="http://schemas.openxmlformats.org/officeDocument/2006/relationships/image" Target="../media/image1190.png"/><Relationship Id="rId9" Type="http://schemas.openxmlformats.org/officeDocument/2006/relationships/image" Target="../media/image1320.png"/><Relationship Id="rId14" Type="http://schemas.openxmlformats.org/officeDocument/2006/relationships/image" Target="../media/image8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0.png"/><Relationship Id="rId13" Type="http://schemas.openxmlformats.org/officeDocument/2006/relationships/image" Target="../media/image840.png"/><Relationship Id="rId3" Type="http://schemas.openxmlformats.org/officeDocument/2006/relationships/image" Target="../media/image1350.png"/><Relationship Id="rId7" Type="http://schemas.openxmlformats.org/officeDocument/2006/relationships/image" Target="../media/image1390.png"/><Relationship Id="rId12" Type="http://schemas.openxmlformats.org/officeDocument/2006/relationships/image" Target="../media/image1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0.png"/><Relationship Id="rId11" Type="http://schemas.openxmlformats.org/officeDocument/2006/relationships/image" Target="../media/image1430.png"/><Relationship Id="rId5" Type="http://schemas.openxmlformats.org/officeDocument/2006/relationships/image" Target="../media/image1370.png"/><Relationship Id="rId10" Type="http://schemas.openxmlformats.org/officeDocument/2006/relationships/image" Target="../media/image1420.png"/><Relationship Id="rId4" Type="http://schemas.openxmlformats.org/officeDocument/2006/relationships/image" Target="../media/image1360.png"/><Relationship Id="rId9" Type="http://schemas.openxmlformats.org/officeDocument/2006/relationships/image" Target="../media/image860.png"/><Relationship Id="rId14" Type="http://schemas.openxmlformats.org/officeDocument/2006/relationships/image" Target="../media/image8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12" Type="http://schemas.openxmlformats.org/officeDocument/2006/relationships/image" Target="../media/image147.png"/><Relationship Id="rId2" Type="http://schemas.openxmlformats.org/officeDocument/2006/relationships/image" Target="../media/image1440.png"/><Relationship Id="rId16" Type="http://schemas.openxmlformats.org/officeDocument/2006/relationships/image" Target="../media/image15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5" Type="http://schemas.openxmlformats.org/officeDocument/2006/relationships/image" Target="../media/image1411.png"/><Relationship Id="rId15" Type="http://schemas.openxmlformats.org/officeDocument/2006/relationships/image" Target="../media/image156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Relationship Id="rId14" Type="http://schemas.openxmlformats.org/officeDocument/2006/relationships/image" Target="../media/image14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70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65.png"/><Relationship Id="rId5" Type="http://schemas.openxmlformats.org/officeDocument/2006/relationships/image" Target="../media/image159.png"/><Relationship Id="rId10" Type="http://schemas.openxmlformats.org/officeDocument/2006/relationships/image" Target="../media/image164.png"/><Relationship Id="rId4" Type="http://schemas.openxmlformats.org/officeDocument/2006/relationships/image" Target="../media/image1580.png"/><Relationship Id="rId9" Type="http://schemas.openxmlformats.org/officeDocument/2006/relationships/image" Target="../media/image1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9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178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11" Type="http://schemas.openxmlformats.org/officeDocument/2006/relationships/image" Target="../media/image177.png"/><Relationship Id="rId5" Type="http://schemas.openxmlformats.org/officeDocument/2006/relationships/image" Target="../media/image169.png"/><Relationship Id="rId10" Type="http://schemas.openxmlformats.org/officeDocument/2006/relationships/image" Target="../media/image176.png"/><Relationship Id="rId4" Type="http://schemas.openxmlformats.org/officeDocument/2006/relationships/image" Target="../media/image168.png"/><Relationship Id="rId9" Type="http://schemas.openxmlformats.org/officeDocument/2006/relationships/image" Target="../media/image17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1.png"/><Relationship Id="rId13" Type="http://schemas.openxmlformats.org/officeDocument/2006/relationships/image" Target="../media/image6.png"/><Relationship Id="rId3" Type="http://schemas.openxmlformats.org/officeDocument/2006/relationships/image" Target="../media/image231.png"/><Relationship Id="rId7" Type="http://schemas.openxmlformats.org/officeDocument/2006/relationships/image" Target="../media/image235.png"/><Relationship Id="rId12" Type="http://schemas.openxmlformats.org/officeDocument/2006/relationships/image" Target="../media/image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0.png"/><Relationship Id="rId11" Type="http://schemas.openxmlformats.org/officeDocument/2006/relationships/image" Target="../media/image4.png"/><Relationship Id="rId5" Type="http://schemas.openxmlformats.org/officeDocument/2006/relationships/image" Target="../media/image233.png"/><Relationship Id="rId10" Type="http://schemas.openxmlformats.org/officeDocument/2006/relationships/image" Target="../media/image3.png"/><Relationship Id="rId4" Type="http://schemas.openxmlformats.org/officeDocument/2006/relationships/image" Target="../media/image232.png"/><Relationship Id="rId9" Type="http://schemas.openxmlformats.org/officeDocument/2006/relationships/image" Target="../media/image2.png"/><Relationship Id="rId1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242.png"/><Relationship Id="rId7" Type="http://schemas.openxmlformats.org/officeDocument/2006/relationships/image" Target="../media/image246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243.png"/><Relationship Id="rId9" Type="http://schemas.openxmlformats.org/officeDocument/2006/relationships/image" Target="../media/image2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1811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" Type="http://schemas.openxmlformats.org/officeDocument/2006/relationships/image" Target="../media/image1800.png"/><Relationship Id="rId16" Type="http://schemas.openxmlformats.org/officeDocument/2006/relationships/image" Target="../media/image194.png"/><Relationship Id="rId20" Type="http://schemas.openxmlformats.org/officeDocument/2006/relationships/image" Target="../media/image19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40.png"/><Relationship Id="rId11" Type="http://schemas.openxmlformats.org/officeDocument/2006/relationships/image" Target="../media/image189.png"/><Relationship Id="rId5" Type="http://schemas.openxmlformats.org/officeDocument/2006/relationships/image" Target="../media/image1830.png"/><Relationship Id="rId15" Type="http://schemas.openxmlformats.org/officeDocument/2006/relationships/image" Target="../media/image193.png"/><Relationship Id="rId10" Type="http://schemas.openxmlformats.org/officeDocument/2006/relationships/image" Target="../media/image188.png"/><Relationship Id="rId19" Type="http://schemas.openxmlformats.org/officeDocument/2006/relationships/image" Target="../media/image197.png"/><Relationship Id="rId4" Type="http://schemas.openxmlformats.org/officeDocument/2006/relationships/image" Target="../media/image1820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Relationship Id="rId22" Type="http://schemas.openxmlformats.org/officeDocument/2006/relationships/image" Target="../media/image20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13" Type="http://schemas.openxmlformats.org/officeDocument/2006/relationships/image" Target="../media/image212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12" Type="http://schemas.openxmlformats.org/officeDocument/2006/relationships/image" Target="../media/image21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Relationship Id="rId14" Type="http://schemas.openxmlformats.org/officeDocument/2006/relationships/image" Target="../media/image2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2627784" y="1114328"/>
            <a:ext cx="18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CC00"/>
              </a:buClr>
              <a:buFont typeface="Wingdings" pitchFamily="2" charset="2"/>
              <a:buNone/>
            </a:pP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§3</a:t>
            </a: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  <a:r>
              <a:rPr kumimoji="1"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逆矩阵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627784" y="2852936"/>
            <a:ext cx="26558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Wingdings"/>
              </a:rPr>
              <a:t>  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"/>
              </a:rPr>
              <a:t>逆矩阵的性质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627784" y="3501008"/>
            <a:ext cx="26558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Wingdings"/>
              </a:rPr>
              <a:t>  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"/>
              </a:rPr>
              <a:t>逆矩阵的求法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627784" y="2205708"/>
            <a:ext cx="2664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Wingdings"/>
              </a:rPr>
              <a:t>  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"/>
              </a:rPr>
              <a:t>逆矩阵的定义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9" name="灯片编号占位符 9"/>
          <p:cNvSpPr txBox="1">
            <a:spLocks/>
          </p:cNvSpPr>
          <p:nvPr/>
        </p:nvSpPr>
        <p:spPr>
          <a:xfrm>
            <a:off x="8759525" y="6664275"/>
            <a:ext cx="5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576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14" name="Text Box 18"/>
          <p:cNvSpPr txBox="1">
            <a:spLocks noChangeArrowheads="1"/>
          </p:cNvSpPr>
          <p:nvPr/>
        </p:nvSpPr>
        <p:spPr bwMode="auto">
          <a:xfrm>
            <a:off x="1043608" y="5384299"/>
            <a:ext cx="5416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kumimoji="1"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此定义表明只有方阵才可能有逆矩阵；</a:t>
            </a:r>
          </a:p>
        </p:txBody>
      </p:sp>
      <p:sp>
        <p:nvSpPr>
          <p:cNvPr id="132149" name="Text Box 53"/>
          <p:cNvSpPr txBox="1">
            <a:spLocks noChangeArrowheads="1"/>
          </p:cNvSpPr>
          <p:nvPr/>
        </p:nvSpPr>
        <p:spPr bwMode="auto">
          <a:xfrm>
            <a:off x="467544" y="5384299"/>
            <a:ext cx="657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F"/>
            </a:pP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</a:p>
        </p:txBody>
      </p:sp>
      <p:sp>
        <p:nvSpPr>
          <p:cNvPr id="132166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467544" y="2564282"/>
            <a:ext cx="793017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例 </a:t>
            </a: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kumimoji="1" lang="en-US" altLang="zh-CN" sz="28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8"/>
              <p:cNvSpPr txBox="1">
                <a:spLocks noChangeArrowheads="1"/>
              </p:cNvSpPr>
              <p:nvPr/>
            </p:nvSpPr>
            <p:spPr bwMode="auto">
              <a:xfrm>
                <a:off x="467544" y="276703"/>
                <a:ext cx="8208912" cy="14883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buClr>
                    <a:schemeClr val="accent2"/>
                  </a:buClr>
                </a:pPr>
                <a:r>
                  <a:rPr kumimoji="1"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定义</a:t>
                </a: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：对于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𝑛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阶矩阵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，如果存在一个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𝑛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阶矩阵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，使</a:t>
                </a:r>
                <a:endParaRPr kumimoji="1" lang="en-US" altLang="zh-CN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eaLnBrk="1" hangingPunct="1">
                  <a:lnSpc>
                    <a:spcPct val="130000"/>
                  </a:lnSpc>
                  <a:buClr>
                    <a:schemeClr val="accent2"/>
                  </a:buClr>
                </a:pPr>
                <a:r>
                  <a:rPr kumimoji="1"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𝐴𝐵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endParaRPr kumimoji="1" lang="en-US" altLang="zh-CN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eaLnBrk="1" hangingPunct="1">
                  <a:lnSpc>
                    <a:spcPct val="130000"/>
                  </a:lnSpc>
                  <a:buClr>
                    <a:schemeClr val="accent2"/>
                  </a:buClr>
                </a:pP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则称矩阵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是可逆的，简称可逆，并把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</a:t>
                </a:r>
              </a:p>
            </p:txBody>
          </p:sp>
        </mc:Choice>
        <mc:Fallback xmlns="">
          <p:sp>
            <p:nvSpPr>
              <p:cNvPr id="1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276703"/>
                <a:ext cx="8208912" cy="1488356"/>
              </a:xfrm>
              <a:prstGeom prst="rect">
                <a:avLst/>
              </a:prstGeom>
              <a:blipFill>
                <a:blip r:embed="rId2"/>
                <a:stretch>
                  <a:fillRect l="-1189" b="-81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8"/>
              <p:cNvSpPr txBox="1">
                <a:spLocks noChangeArrowheads="1"/>
              </p:cNvSpPr>
              <p:nvPr/>
            </p:nvSpPr>
            <p:spPr bwMode="auto">
              <a:xfrm>
                <a:off x="467544" y="1815207"/>
                <a:ext cx="305570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也称为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的逆矩阵，</a:t>
                </a:r>
              </a:p>
            </p:txBody>
          </p:sp>
        </mc:Choice>
        <mc:Fallback xmlns="">
          <p:sp>
            <p:nvSpPr>
              <p:cNvPr id="2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1815207"/>
                <a:ext cx="3055708" cy="461665"/>
              </a:xfrm>
              <a:prstGeom prst="rect">
                <a:avLst/>
              </a:prstGeom>
              <a:blipFill>
                <a:blip r:embed="rId3"/>
                <a:stretch>
                  <a:fillRect l="-599" t="-10526" r="-199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8"/>
              <p:cNvSpPr txBox="1">
                <a:spLocks noChangeArrowheads="1"/>
              </p:cNvSpPr>
              <p:nvPr/>
            </p:nvSpPr>
            <p:spPr bwMode="auto">
              <a:xfrm>
                <a:off x="3656661" y="1815207"/>
                <a:ext cx="212936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zh-CN" altLang="en-US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、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互为逆阵</a:t>
                </a:r>
              </a:p>
            </p:txBody>
          </p:sp>
        </mc:Choice>
        <mc:Fallback xmlns="">
          <p:sp>
            <p:nvSpPr>
              <p:cNvPr id="2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6661" y="1815207"/>
                <a:ext cx="2129365" cy="461665"/>
              </a:xfrm>
              <a:prstGeom prst="rect">
                <a:avLst/>
              </a:prstGeom>
              <a:blipFill>
                <a:blip r:embed="rId4"/>
                <a:stretch>
                  <a:fillRect l="-860" t="-10526" r="-3438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4839543"/>
                <a:ext cx="213237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</a:t>
                </a:r>
              </a:p>
            </p:txBody>
          </p:sp>
        </mc:Choice>
        <mc:Fallback xmlns="">
          <p:sp>
            <p:nvSpPr>
              <p:cNvPr id="2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4839543"/>
                <a:ext cx="2132379" cy="461665"/>
              </a:xfrm>
              <a:prstGeom prst="rect">
                <a:avLst/>
              </a:prstGeom>
              <a:blipFill>
                <a:blip r:embed="rId5"/>
                <a:stretch>
                  <a:fillRect l="-571" t="-10526" r="-3429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8"/>
              <p:cNvSpPr txBox="1">
                <a:spLocks noChangeArrowheads="1"/>
              </p:cNvSpPr>
              <p:nvPr/>
            </p:nvSpPr>
            <p:spPr bwMode="auto">
              <a:xfrm>
                <a:off x="1043608" y="5847655"/>
                <a:ext cx="294664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的逆矩阵是唯一的</a:t>
                </a:r>
              </a:p>
            </p:txBody>
          </p:sp>
        </mc:Choice>
        <mc:Fallback xmlns="">
          <p:sp>
            <p:nvSpPr>
              <p:cNvPr id="2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5847655"/>
                <a:ext cx="2946640" cy="461665"/>
              </a:xfrm>
              <a:prstGeom prst="rect">
                <a:avLst/>
              </a:prstGeom>
              <a:blipFill>
                <a:blip r:embed="rId6"/>
                <a:stretch>
                  <a:fillRect l="-413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53"/>
          <p:cNvSpPr txBox="1">
            <a:spLocks noChangeArrowheads="1"/>
          </p:cNvSpPr>
          <p:nvPr/>
        </p:nvSpPr>
        <p:spPr bwMode="auto">
          <a:xfrm>
            <a:off x="467544" y="5847655"/>
            <a:ext cx="657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F"/>
            </a:pP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2420888"/>
                <a:ext cx="4812151" cy="7156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−7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        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</m:t>
                                </m:r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2420888"/>
                <a:ext cx="4812151" cy="7156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3243051"/>
                <a:ext cx="3929730" cy="7156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−7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</m:t>
                                </m:r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3243051"/>
                <a:ext cx="3929730" cy="715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8"/>
              <p:cNvSpPr txBox="1">
                <a:spLocks noChangeArrowheads="1"/>
              </p:cNvSpPr>
              <p:nvPr/>
            </p:nvSpPr>
            <p:spPr bwMode="auto">
              <a:xfrm>
                <a:off x="4799938" y="3246802"/>
                <a:ext cx="1492011" cy="708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9938" y="3246802"/>
                <a:ext cx="1492011" cy="7081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8"/>
              <p:cNvSpPr txBox="1">
                <a:spLocks noChangeArrowheads="1"/>
              </p:cNvSpPr>
              <p:nvPr/>
            </p:nvSpPr>
            <p:spPr bwMode="auto">
              <a:xfrm>
                <a:off x="6001473" y="3370041"/>
                <a:ext cx="79515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01473" y="3370041"/>
                <a:ext cx="79515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4003501"/>
                <a:ext cx="3870162" cy="7157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−7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</m:t>
                                </m:r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kumimoji="1" lang="en-US" altLang="zh-CN" sz="2400" b="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4003501"/>
                <a:ext cx="3870162" cy="7157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8"/>
              <p:cNvSpPr txBox="1">
                <a:spLocks noChangeArrowheads="1"/>
              </p:cNvSpPr>
              <p:nvPr/>
            </p:nvSpPr>
            <p:spPr bwMode="auto">
              <a:xfrm>
                <a:off x="4788024" y="4007252"/>
                <a:ext cx="1492011" cy="708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8024" y="4007252"/>
                <a:ext cx="1492011" cy="7081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8"/>
              <p:cNvSpPr txBox="1">
                <a:spLocks noChangeArrowheads="1"/>
              </p:cNvSpPr>
              <p:nvPr/>
            </p:nvSpPr>
            <p:spPr bwMode="auto">
              <a:xfrm>
                <a:off x="5989559" y="4130491"/>
                <a:ext cx="79515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9559" y="4130491"/>
                <a:ext cx="79515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88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14" grpId="0"/>
      <p:bldP spid="20" grpId="0" autoUpdateAnimBg="0"/>
      <p:bldP spid="21" grpId="0"/>
      <p:bldP spid="22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66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562662" y="1196752"/>
            <a:ext cx="1057010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证明：</a:t>
            </a:r>
            <a:endParaRPr kumimoji="1" lang="en-US" altLang="zh-CN" sz="24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8"/>
              <p:cNvSpPr txBox="1">
                <a:spLocks noChangeArrowheads="1"/>
              </p:cNvSpPr>
              <p:nvPr/>
            </p:nvSpPr>
            <p:spPr bwMode="auto">
              <a:xfrm>
                <a:off x="562662" y="555067"/>
                <a:ext cx="407656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下面证明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的逆矩阵是唯一的</a:t>
                </a:r>
              </a:p>
            </p:txBody>
          </p:sp>
        </mc:Choice>
        <mc:Fallback xmlns="">
          <p:sp>
            <p:nvSpPr>
              <p:cNvPr id="1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662" y="555067"/>
                <a:ext cx="4076565" cy="461665"/>
              </a:xfrm>
              <a:prstGeom prst="rect">
                <a:avLst/>
              </a:prstGeom>
              <a:blipFill>
                <a:blip r:embed="rId2"/>
                <a:stretch>
                  <a:fillRect l="-2242" t="-10526" r="-1345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8"/>
              <p:cNvSpPr txBox="1">
                <a:spLocks noChangeArrowheads="1"/>
              </p:cNvSpPr>
              <p:nvPr/>
            </p:nvSpPr>
            <p:spPr bwMode="auto">
              <a:xfrm>
                <a:off x="1585610" y="1677334"/>
                <a:ext cx="208717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solidFill>
                            <a:srgbClr val="2414FA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rgbClr val="2414FA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5610" y="1677334"/>
                <a:ext cx="2087174" cy="461665"/>
              </a:xfrm>
              <a:prstGeom prst="rect">
                <a:avLst/>
              </a:prstGeom>
              <a:blipFill>
                <a:blip r:embed="rId3"/>
                <a:stretch>
                  <a:fillRect l="-5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1585610" y="1196752"/>
                <a:ext cx="429072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假设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solidFill>
                          <a:srgbClr val="2414FA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,</m:t>
                    </m:r>
                    <m:r>
                      <a:rPr kumimoji="1" lang="en-US" altLang="zh-CN" sz="2400" b="0" i="1" dirty="0" smtClean="0">
                        <a:solidFill>
                          <a:srgbClr val="FF0000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𝐶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均为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的逆矩阵，则：</a:t>
                </a:r>
              </a:p>
            </p:txBody>
          </p:sp>
        </mc:Choice>
        <mc:Fallback xmlns="">
          <p:sp>
            <p:nvSpPr>
              <p:cNvPr id="2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5610" y="1196752"/>
                <a:ext cx="4290726" cy="461665"/>
              </a:xfrm>
              <a:prstGeom prst="rect">
                <a:avLst/>
              </a:prstGeom>
              <a:blipFill>
                <a:blip r:embed="rId4"/>
                <a:stretch>
                  <a:fillRect l="-2131" t="-10526" r="-1278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8"/>
              <p:cNvSpPr txBox="1">
                <a:spLocks noChangeArrowheads="1"/>
              </p:cNvSpPr>
              <p:nvPr/>
            </p:nvSpPr>
            <p:spPr bwMode="auto">
              <a:xfrm>
                <a:off x="1585610" y="2138999"/>
                <a:ext cx="208717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𝐶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𝐶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5610" y="2138999"/>
                <a:ext cx="2087174" cy="461665"/>
              </a:xfrm>
              <a:prstGeom prst="rect">
                <a:avLst/>
              </a:prstGeom>
              <a:blipFill>
                <a:blip r:embed="rId5"/>
                <a:stretch>
                  <a:fillRect l="-5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>
                <a:off x="1585610" y="2642766"/>
                <a:ext cx="48628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rgbClr val="2414FA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5610" y="2642766"/>
                <a:ext cx="48628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1585610" y="3183359"/>
                <a:ext cx="346101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ea typeface="微软雅黑 Light" panose="020B0502040204020203" pitchFamily="34" charset="-122"/>
                  </a:rPr>
                  <a:t>故：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的逆矩阵是唯一的</a:t>
                </a:r>
              </a:p>
            </p:txBody>
          </p:sp>
        </mc:Choice>
        <mc:Fallback xmlns="">
          <p:sp>
            <p:nvSpPr>
              <p:cNvPr id="3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5610" y="3183359"/>
                <a:ext cx="3461012" cy="461665"/>
              </a:xfrm>
              <a:prstGeom prst="rect">
                <a:avLst/>
              </a:prstGeom>
              <a:blipFill>
                <a:blip r:embed="rId7"/>
                <a:stretch>
                  <a:fillRect l="-2641" t="-10526" r="-1761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8"/>
              <p:cNvSpPr txBox="1">
                <a:spLocks noChangeArrowheads="1"/>
              </p:cNvSpPr>
              <p:nvPr/>
            </p:nvSpPr>
            <p:spPr bwMode="auto">
              <a:xfrm>
                <a:off x="1585610" y="4005064"/>
                <a:ext cx="303634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的逆矩阵记为：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5610" y="4005064"/>
                <a:ext cx="3036344" cy="461665"/>
              </a:xfrm>
              <a:prstGeom prst="rect">
                <a:avLst/>
              </a:prstGeom>
              <a:blipFill>
                <a:blip r:embed="rId8"/>
                <a:stretch>
                  <a:fillRect l="-402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1585610" y="4653136"/>
                <a:ext cx="267528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sSup>
                        <m:sSupPr>
                          <m:ctrlP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5610" y="4653136"/>
                <a:ext cx="2675284" cy="461665"/>
              </a:xfrm>
              <a:prstGeom prst="rect">
                <a:avLst/>
              </a:prstGeom>
              <a:blipFill>
                <a:blip r:embed="rId9"/>
                <a:stretch>
                  <a:fillRect l="-4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8"/>
              <p:cNvSpPr txBox="1">
                <a:spLocks noChangeArrowheads="1"/>
              </p:cNvSpPr>
              <p:nvPr/>
            </p:nvSpPr>
            <p:spPr bwMode="auto">
              <a:xfrm>
                <a:off x="4365151" y="2642766"/>
                <a:ext cx="78861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𝐶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5151" y="2642766"/>
                <a:ext cx="788614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8"/>
              <p:cNvSpPr txBox="1">
                <a:spLocks noChangeArrowheads="1"/>
              </p:cNvSpPr>
              <p:nvPr/>
            </p:nvSpPr>
            <p:spPr bwMode="auto">
              <a:xfrm>
                <a:off x="1835696" y="2642766"/>
                <a:ext cx="99713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rgbClr val="2414FA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696" y="2642766"/>
                <a:ext cx="997131" cy="46166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8"/>
              <p:cNvSpPr txBox="1">
                <a:spLocks noChangeArrowheads="1"/>
              </p:cNvSpPr>
              <p:nvPr/>
            </p:nvSpPr>
            <p:spPr bwMode="auto">
              <a:xfrm>
                <a:off x="2654780" y="2642766"/>
                <a:ext cx="118615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rgbClr val="2414FA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𝐶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4780" y="2642766"/>
                <a:ext cx="1186159" cy="46166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/>
              <p:cNvSpPr txBox="1">
                <a:spLocks noChangeArrowheads="1"/>
              </p:cNvSpPr>
              <p:nvPr/>
            </p:nvSpPr>
            <p:spPr bwMode="auto">
              <a:xfrm>
                <a:off x="3652053" y="2642766"/>
                <a:ext cx="98097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𝐸𝐶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2053" y="2642766"/>
                <a:ext cx="980974" cy="46166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14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3" grpId="0" autoUpdateAnimBg="0"/>
      <p:bldP spid="33" grpId="0" autoUpdateAnimBg="0"/>
      <p:bldP spid="34" grpId="0" autoUpdateAnimBg="0"/>
      <p:bldP spid="35" grpId="0"/>
      <p:bldP spid="36" grpId="0"/>
      <p:bldP spid="37" grpId="0" autoUpdateAnimBg="0"/>
      <p:bldP spid="12" grpId="0" autoUpdateAnimBg="0"/>
      <p:bldP spid="13" grpId="0" autoUpdateAnimBg="0"/>
      <p:bldP spid="14" grpId="0" autoUpdateAnimBg="0"/>
      <p:bldP spid="1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66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467544" y="404664"/>
            <a:ext cx="1057010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★</a:t>
            </a: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分析：</a:t>
            </a:r>
            <a:endParaRPr kumimoji="1" lang="en-US" altLang="zh-CN" sz="24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1763688" y="393849"/>
                <a:ext cx="267528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sSup>
                        <m:sSupPr>
                          <m:ctrlP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688" y="393849"/>
                <a:ext cx="2675284" cy="461665"/>
              </a:xfrm>
              <a:prstGeom prst="rect">
                <a:avLst/>
              </a:prstGeom>
              <a:blipFill>
                <a:blip r:embed="rId2"/>
                <a:stretch>
                  <a:fillRect l="-4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DC3A56B-D1F0-63E7-8057-3BE7F1B23C99}"/>
                  </a:ext>
                </a:extLst>
              </p:cNvPr>
              <p:cNvSpPr txBox="1"/>
              <p:nvPr/>
            </p:nvSpPr>
            <p:spPr>
              <a:xfrm>
                <a:off x="1043608" y="1125435"/>
                <a:ext cx="2071656" cy="896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DC3A56B-D1F0-63E7-8057-3BE7F1B23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125435"/>
                <a:ext cx="2071656" cy="896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21117C2-461D-81AD-A8D6-5071C31FB038}"/>
                  </a:ext>
                </a:extLst>
              </p:cNvPr>
              <p:cNvSpPr txBox="1"/>
              <p:nvPr/>
            </p:nvSpPr>
            <p:spPr>
              <a:xfrm>
                <a:off x="3131840" y="1128320"/>
                <a:ext cx="2071657" cy="8903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                      </m:t>
                          </m:r>
                        </m:e>
                      </m:d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21117C2-461D-81AD-A8D6-5071C31FB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128320"/>
                <a:ext cx="2071657" cy="8903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620CDF7-0F1D-1D1F-4C8D-1B245A1918AB}"/>
                  </a:ext>
                </a:extLst>
              </p:cNvPr>
              <p:cNvSpPr txBox="1"/>
              <p:nvPr/>
            </p:nvSpPr>
            <p:spPr>
              <a:xfrm>
                <a:off x="5195987" y="1125884"/>
                <a:ext cx="2108398" cy="8952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2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620CDF7-0F1D-1D1F-4C8D-1B245A191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987" y="1125884"/>
                <a:ext cx="2108398" cy="8952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403F1E-276B-1297-2887-67386468D941}"/>
                  </a:ext>
                </a:extLst>
              </p:cNvPr>
              <p:cNvSpPr txBox="1"/>
              <p:nvPr/>
            </p:nvSpPr>
            <p:spPr>
              <a:xfrm>
                <a:off x="3920817" y="1112322"/>
                <a:ext cx="469616" cy="922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1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403F1E-276B-1297-2887-67386468D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817" y="1112322"/>
                <a:ext cx="469616" cy="922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48728B-C702-7A6D-74E6-D2E91F0BD9C8}"/>
                  </a:ext>
                </a:extLst>
              </p:cNvPr>
              <p:cNvSpPr txBox="1"/>
              <p:nvPr/>
            </p:nvSpPr>
            <p:spPr>
              <a:xfrm>
                <a:off x="4462424" y="1112322"/>
                <a:ext cx="469616" cy="922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1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48728B-C702-7A6D-74E6-D2E91F0B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24" y="1112322"/>
                <a:ext cx="469616" cy="9223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BF09B99-EF03-CDA2-B578-BAC3A9D4C4F1}"/>
                  </a:ext>
                </a:extLst>
              </p:cNvPr>
              <p:cNvSpPr txBox="1"/>
              <p:nvPr/>
            </p:nvSpPr>
            <p:spPr>
              <a:xfrm>
                <a:off x="3384049" y="1125435"/>
                <a:ext cx="469616" cy="922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1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BF09B99-EF03-CDA2-B578-BAC3A9D4C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049" y="1125435"/>
                <a:ext cx="469616" cy="922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A19C015-A547-704B-08B3-76557523BA3A}"/>
                  </a:ext>
                </a:extLst>
              </p:cNvPr>
              <p:cNvSpPr txBox="1"/>
              <p:nvPr/>
            </p:nvSpPr>
            <p:spPr>
              <a:xfrm>
                <a:off x="5436096" y="1401953"/>
                <a:ext cx="4858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1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1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A19C015-A547-704B-08B3-76557523B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401953"/>
                <a:ext cx="48580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8">
                <a:extLst>
                  <a:ext uri="{FF2B5EF4-FFF2-40B4-BE49-F238E27FC236}">
                    <a16:creationId xmlns:a16="http://schemas.microsoft.com/office/drawing/2014/main" id="{8889EAB3-F226-96F0-97EF-9C7342742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0824" y="2392516"/>
                <a:ext cx="11893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0" name="Text Box 18">
                <a:extLst>
                  <a:ext uri="{FF2B5EF4-FFF2-40B4-BE49-F238E27FC236}">
                    <a16:creationId xmlns:a16="http://schemas.microsoft.com/office/drawing/2014/main" id="{8889EAB3-F226-96F0-97EF-9C7342742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60824" y="2392516"/>
                <a:ext cx="1189300" cy="461665"/>
              </a:xfrm>
              <a:prstGeom prst="rect">
                <a:avLst/>
              </a:prstGeom>
              <a:blipFill>
                <a:blip r:embed="rId10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FAB807C8-940F-4714-25B5-0EA13D41D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9712" y="2392516"/>
                <a:ext cx="47461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FAB807C8-940F-4714-25B5-0EA13D41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712" y="2392516"/>
                <a:ext cx="474617" cy="461665"/>
              </a:xfrm>
              <a:prstGeom prst="rect">
                <a:avLst/>
              </a:prstGeom>
              <a:blipFill>
                <a:blip r:embed="rId11"/>
                <a:stretch>
                  <a:fillRect l="-38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8">
                <a:extLst>
                  <a:ext uri="{FF2B5EF4-FFF2-40B4-BE49-F238E27FC236}">
                    <a16:creationId xmlns:a16="http://schemas.microsoft.com/office/drawing/2014/main" id="{77C2EEAA-FD96-0663-1182-23E82D8DA3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401" y="2385960"/>
                <a:ext cx="59035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2" name="Text Box 18">
                <a:extLst>
                  <a:ext uri="{FF2B5EF4-FFF2-40B4-BE49-F238E27FC236}">
                    <a16:creationId xmlns:a16="http://schemas.microsoft.com/office/drawing/2014/main" id="{77C2EEAA-FD96-0663-1182-23E82D8DA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8401" y="2385960"/>
                <a:ext cx="590354" cy="461665"/>
              </a:xfrm>
              <a:prstGeom prst="rect">
                <a:avLst/>
              </a:prstGeom>
              <a:blipFill>
                <a:blip r:embed="rId12"/>
                <a:stretch>
                  <a:fillRect l="-30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E81EE61-4D6B-E168-9E5D-5DF5A3C0BCA9}"/>
                  </a:ext>
                </a:extLst>
              </p:cNvPr>
              <p:cNvSpPr txBox="1"/>
              <p:nvPr/>
            </p:nvSpPr>
            <p:spPr>
              <a:xfrm>
                <a:off x="1059411" y="3284984"/>
                <a:ext cx="2033698" cy="896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E81EE61-4D6B-E168-9E5D-5DF5A3C0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411" y="3284984"/>
                <a:ext cx="2033698" cy="8961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388E2587-2CFC-1883-6623-CD32F6B51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7824" y="3525306"/>
                <a:ext cx="3655873" cy="415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1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21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388E2587-2CFC-1883-6623-CD32F6B51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824" y="3525306"/>
                <a:ext cx="3655873" cy="415498"/>
              </a:xfrm>
              <a:prstGeom prst="rect">
                <a:avLst/>
              </a:prstGeom>
              <a:blipFill>
                <a:blip r:embed="rId14"/>
                <a:stretch>
                  <a:fillRect b="-1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1F189554-EF82-A04E-7CDC-BDE97E178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150" y="3525306"/>
                <a:ext cx="884601" cy="415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1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1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1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1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1F189554-EF82-A04E-7CDC-BDE97E178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150" y="3525306"/>
                <a:ext cx="884601" cy="4154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F6ABD86A-1DF3-D953-FD16-4BEAF70181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176" y="4611929"/>
                <a:ext cx="3542060" cy="415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altLang="zh-CN" sz="21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1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F6ABD86A-1DF3-D953-FD16-4BEAF7018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176" y="4611929"/>
                <a:ext cx="3542060" cy="415498"/>
              </a:xfrm>
              <a:prstGeom prst="rect">
                <a:avLst/>
              </a:prstGeom>
              <a:blipFill>
                <a:blip r:embed="rId16"/>
                <a:stretch>
                  <a:fillRect b="-1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8">
                <a:extLst>
                  <a:ext uri="{FF2B5EF4-FFF2-40B4-BE49-F238E27FC236}">
                    <a16:creationId xmlns:a16="http://schemas.microsoft.com/office/drawing/2014/main" id="{91B4D07A-1CC8-6BD6-688D-DBBBDD427A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224" y="4611929"/>
                <a:ext cx="413896" cy="415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zh-CN" altLang="en-US" sz="21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8" name="Text Box 18">
                <a:extLst>
                  <a:ext uri="{FF2B5EF4-FFF2-40B4-BE49-F238E27FC236}">
                    <a16:creationId xmlns:a16="http://schemas.microsoft.com/office/drawing/2014/main" id="{91B4D07A-1CC8-6BD6-688D-DBBBDD427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8224" y="4611929"/>
                <a:ext cx="413896" cy="415498"/>
              </a:xfrm>
              <a:prstGeom prst="rect">
                <a:avLst/>
              </a:prstGeom>
              <a:blipFill>
                <a:blip r:embed="rId17"/>
                <a:stretch>
                  <a:fillRect l="-1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BC7257D2-4640-A7DF-F2F5-4A3DBFBEA5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848" y="5101734"/>
                <a:ext cx="3542060" cy="415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altLang="zh-CN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1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altLang="zh-CN" sz="21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1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BC7257D2-4640-A7DF-F2F5-4A3DBFBE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848" y="5101734"/>
                <a:ext cx="3542060" cy="415498"/>
              </a:xfrm>
              <a:prstGeom prst="rect">
                <a:avLst/>
              </a:prstGeom>
              <a:blipFill>
                <a:blip r:embed="rId18"/>
                <a:stretch>
                  <a:fillRect b="-1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8">
                <a:extLst>
                  <a:ext uri="{FF2B5EF4-FFF2-40B4-BE49-F238E27FC236}">
                    <a16:creationId xmlns:a16="http://schemas.microsoft.com/office/drawing/2014/main" id="{F3479CD3-31BC-2CAB-BC85-D14ED281EF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8224" y="5101734"/>
                <a:ext cx="413896" cy="415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zh-CN" altLang="en-US" sz="21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0" name="Text Box 18">
                <a:extLst>
                  <a:ext uri="{FF2B5EF4-FFF2-40B4-BE49-F238E27FC236}">
                    <a16:creationId xmlns:a16="http://schemas.microsoft.com/office/drawing/2014/main" id="{F3479CD3-31BC-2CAB-BC85-D14ED281E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8224" y="5101734"/>
                <a:ext cx="413896" cy="415498"/>
              </a:xfrm>
              <a:prstGeom prst="rect">
                <a:avLst/>
              </a:prstGeom>
              <a:blipFill>
                <a:blip r:embed="rId19"/>
                <a:stretch>
                  <a:fillRect l="-14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24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9" grpId="0"/>
      <p:bldP spid="10" grpId="0"/>
      <p:bldP spid="11" grpId="0"/>
      <p:bldP spid="22" grpId="0"/>
      <p:bldP spid="13" grpId="0"/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8"/>
              <p:cNvSpPr txBox="1">
                <a:spLocks noChangeArrowheads="1"/>
              </p:cNvSpPr>
              <p:nvPr/>
            </p:nvSpPr>
            <p:spPr bwMode="auto">
              <a:xfrm>
                <a:off x="138539" y="188640"/>
                <a:ext cx="8410251" cy="1501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定义</a:t>
                </a: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zh-CN" altLang="en-US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为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𝑛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阶方阵，称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</a:rPr>
                                              <m:t>11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eqAr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⋯</m:t>
                                        </m:r>
                                      </m:e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eqAr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kumimoji="1" lang="zh-CN" altLang="en-US" sz="2400" dirty="0">
                        <a:ea typeface="微软雅黑 Light" panose="020B0502040204020203" pitchFamily="34" charset="-122"/>
                      </a:rPr>
                      <m:t>为</m:t>
                    </m:r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m:rPr>
                        <m:nor/>
                      </m:rPr>
                      <a:rPr kumimoji="1" lang="zh-CN" altLang="en-US" sz="2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rPr>
                      <m:t>的伴随矩阵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539" y="188640"/>
                <a:ext cx="8410251" cy="1501886"/>
              </a:xfrm>
              <a:prstGeom prst="rect">
                <a:avLst/>
              </a:prstGeom>
              <a:blipFill>
                <a:blip r:embed="rId2"/>
                <a:stretch>
                  <a:fillRect l="-116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8"/>
              <p:cNvSpPr txBox="1">
                <a:spLocks noChangeArrowheads="1"/>
              </p:cNvSpPr>
              <p:nvPr/>
            </p:nvSpPr>
            <p:spPr bwMode="auto">
              <a:xfrm>
                <a:off x="1115616" y="1916832"/>
                <a:ext cx="5688632" cy="4914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(</a:t>
                </a: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ea typeface="微软雅黑 Light" panose="020B0502040204020203" pitchFamily="34" charset="-122"/>
                  </a:rPr>
                  <a:t>   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/>
                            <a:ea typeface="微软雅黑 Light" panose="020B0502040204020203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为元素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的代数余子式</a:t>
                </a:r>
                <a:r>
                  <a:rPr kumimoji="1"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)</a:t>
                </a:r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1916832"/>
                <a:ext cx="5688632" cy="491417"/>
              </a:xfrm>
              <a:prstGeom prst="rect">
                <a:avLst/>
              </a:prstGeom>
              <a:blipFill rotWithShape="1">
                <a:blip r:embed="rId3"/>
                <a:stretch>
                  <a:fillRect l="-1608" t="-9877" r="-1393" b="-209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05729" y="3093422"/>
                <a:ext cx="3733416" cy="14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altLang="zh-CN" sz="240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𝑛𝑛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29" y="3093422"/>
                <a:ext cx="3733416" cy="14529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8"/>
              <p:cNvSpPr txBox="1">
                <a:spLocks noChangeArrowheads="1"/>
              </p:cNvSpPr>
              <p:nvPr/>
            </p:nvSpPr>
            <p:spPr bwMode="auto">
              <a:xfrm>
                <a:off x="4687861" y="3068960"/>
                <a:ext cx="4176464" cy="1501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𝑛𝑛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7861" y="3068960"/>
                <a:ext cx="4176464" cy="1501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11">
                <a:extLst>
                  <a:ext uri="{FF2B5EF4-FFF2-40B4-BE49-F238E27FC236}">
                    <a16:creationId xmlns:a16="http://schemas.microsoft.com/office/drawing/2014/main" id="{07083326-995E-E4EE-63B5-A2224C4B4A39}"/>
                  </a:ext>
                </a:extLst>
              </p:cNvPr>
              <p:cNvSpPr txBox="1"/>
              <p:nvPr/>
            </p:nvSpPr>
            <p:spPr>
              <a:xfrm>
                <a:off x="827584" y="5249522"/>
                <a:ext cx="11299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𝐴</m:t>
                      </m:r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Ο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3" name="TextBox 11">
                <a:extLst>
                  <a:ext uri="{FF2B5EF4-FFF2-40B4-BE49-F238E27FC236}">
                    <a16:creationId xmlns:a16="http://schemas.microsoft.com/office/drawing/2014/main" id="{07083326-995E-E4EE-63B5-A2224C4B4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249522"/>
                <a:ext cx="1129967" cy="461665"/>
              </a:xfrm>
              <a:prstGeom prst="rect">
                <a:avLst/>
              </a:prstGeom>
              <a:blipFill>
                <a:blip r:embed="rId7"/>
                <a:stretch>
                  <a:fillRect l="-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1">
                <a:extLst>
                  <a:ext uri="{FF2B5EF4-FFF2-40B4-BE49-F238E27FC236}">
                    <a16:creationId xmlns:a16="http://schemas.microsoft.com/office/drawing/2014/main" id="{0645C42A-0708-A3D9-8628-C19E7E996710}"/>
                  </a:ext>
                </a:extLst>
              </p:cNvPr>
              <p:cNvSpPr txBox="1"/>
              <p:nvPr/>
            </p:nvSpPr>
            <p:spPr>
              <a:xfrm>
                <a:off x="1691680" y="5249523"/>
                <a:ext cx="14414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Ο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4" name="TextBox 11">
                <a:extLst>
                  <a:ext uri="{FF2B5EF4-FFF2-40B4-BE49-F238E27FC236}">
                    <a16:creationId xmlns:a16="http://schemas.microsoft.com/office/drawing/2014/main" id="{0645C42A-0708-A3D9-8628-C19E7E996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249523"/>
                <a:ext cx="1441472" cy="461665"/>
              </a:xfrm>
              <a:prstGeom prst="rect">
                <a:avLst/>
              </a:prstGeom>
              <a:blipFill>
                <a:blip r:embed="rId8"/>
                <a:stretch>
                  <a:fillRect r="-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62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8"/>
              <p:cNvSpPr txBox="1">
                <a:spLocks noChangeArrowheads="1"/>
              </p:cNvSpPr>
              <p:nvPr/>
            </p:nvSpPr>
            <p:spPr bwMode="auto">
              <a:xfrm>
                <a:off x="179512" y="476672"/>
                <a:ext cx="670946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定理</a:t>
                </a: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zh-CN" altLang="en-US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为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𝑛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阶方阵，</a:t>
                </a: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的伴随矩阵，则有：</a:t>
                </a:r>
              </a:p>
            </p:txBody>
          </p:sp>
        </mc:Choice>
        <mc:Fallback xmlns="">
          <p:sp>
            <p:nvSpPr>
              <p:cNvPr id="1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76672"/>
                <a:ext cx="6709465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362" t="-10526" r="-272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8"/>
              <p:cNvSpPr txBox="1">
                <a:spLocks noChangeArrowheads="1"/>
              </p:cNvSpPr>
              <p:nvPr/>
            </p:nvSpPr>
            <p:spPr bwMode="auto">
              <a:xfrm>
                <a:off x="2672851" y="1052736"/>
                <a:ext cx="270073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2851" y="1052736"/>
                <a:ext cx="2700739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451"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79512" y="2060848"/>
            <a:ext cx="1057010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证明：</a:t>
            </a:r>
            <a:endParaRPr kumimoji="1" lang="en-US" altLang="zh-CN" sz="24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187624" y="1567074"/>
                <a:ext cx="6984776" cy="1501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altLang="zh-CN" sz="240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 smtClean="0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/>
                                                </a:rPr>
                                                <m:t>𝑛𝑛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 smtClean="0">
                                              <a:solidFill>
                                                <a:srgbClr val="2414FA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2414FA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2414FA"/>
                                                  </a:solidFill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⋯</m:t>
                                          </m:r>
                                        </m:e>
                                      </m:eqAr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altLang="zh-CN" sz="2400" i="1">
                                              <a:latin typeface="Cambria Math"/>
                                              <a:ea typeface="Cambria Math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/>
                                                </a:rPr>
                                                <m:t>𝑛𝑛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1567074"/>
                <a:ext cx="6984776" cy="1501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919430" y="3284984"/>
                <a:ext cx="2654794" cy="163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  </m:t>
                          </m:r>
                          <m:eqArr>
                            <m:eqArr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430" y="3284984"/>
                <a:ext cx="2654794" cy="1633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269968" y="3349830"/>
                <a:ext cx="5516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968" y="3349830"/>
                <a:ext cx="55161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18481" y="3349830"/>
                <a:ext cx="3964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481" y="3349830"/>
                <a:ext cx="396494" cy="461665"/>
              </a:xfrm>
              <a:prstGeom prst="rect">
                <a:avLst/>
              </a:prstGeom>
              <a:blipFill>
                <a:blip r:embed="rId12"/>
                <a:stretch>
                  <a:fillRect l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426985" y="3349830"/>
                <a:ext cx="3964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⋯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985" y="3349830"/>
                <a:ext cx="396494" cy="461665"/>
              </a:xfrm>
              <a:prstGeom prst="rect">
                <a:avLst/>
              </a:prstGeom>
              <a:blipFill>
                <a:blip r:embed="rId13"/>
                <a:stretch>
                  <a:fillRect r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79933" y="3349830"/>
                <a:ext cx="3964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933" y="3349830"/>
                <a:ext cx="396494" cy="461665"/>
              </a:xfrm>
              <a:prstGeom prst="rect">
                <a:avLst/>
              </a:prstGeom>
              <a:blipFill>
                <a:blip r:embed="rId14"/>
                <a:stretch>
                  <a:fillRect l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2395682" y="3766188"/>
                <a:ext cx="3828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682" y="3766188"/>
                <a:ext cx="382873" cy="461665"/>
              </a:xfrm>
              <a:prstGeom prst="rect">
                <a:avLst/>
              </a:prstGeom>
              <a:blipFill>
                <a:blip r:embed="rId15"/>
                <a:stretch>
                  <a:fillRect l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2808695" y="3766188"/>
                <a:ext cx="5413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i="1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2414FA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rgbClr val="2414FA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695" y="3766188"/>
                <a:ext cx="541393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34817" y="3766188"/>
                <a:ext cx="3964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⋯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817" y="3766188"/>
                <a:ext cx="396494" cy="461665"/>
              </a:xfrm>
              <a:prstGeom prst="rect">
                <a:avLst/>
              </a:prstGeom>
              <a:blipFill>
                <a:blip r:embed="rId17"/>
                <a:stretch>
                  <a:fillRect r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979933" y="3766188"/>
                <a:ext cx="3964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933" y="3766188"/>
                <a:ext cx="396494" cy="461665"/>
              </a:xfrm>
              <a:prstGeom prst="rect">
                <a:avLst/>
              </a:prstGeom>
              <a:blipFill>
                <a:blip r:embed="rId18"/>
                <a:stretch>
                  <a:fillRect l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448323" y="4124585"/>
                <a:ext cx="2775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323" y="4124585"/>
                <a:ext cx="277591" cy="461665"/>
              </a:xfrm>
              <a:prstGeom prst="rect">
                <a:avLst/>
              </a:prstGeom>
              <a:blipFill>
                <a:blip r:embed="rId19"/>
                <a:stretch>
                  <a:fillRect l="-4444" r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2988559" y="4124585"/>
                <a:ext cx="2563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559" y="4124585"/>
                <a:ext cx="256338" cy="461665"/>
              </a:xfrm>
              <a:prstGeom prst="rect">
                <a:avLst/>
              </a:prstGeom>
              <a:blipFill>
                <a:blip r:embed="rId20"/>
                <a:stretch>
                  <a:fillRect l="-2381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3503882" y="4124585"/>
                <a:ext cx="3195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882" y="4124585"/>
                <a:ext cx="319597" cy="461665"/>
              </a:xfrm>
              <a:prstGeom prst="rect">
                <a:avLst/>
              </a:prstGeom>
              <a:blipFill>
                <a:blip r:embed="rId21"/>
                <a:stretch>
                  <a:fillRect l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4006824" y="4124585"/>
                <a:ext cx="3427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824" y="4124585"/>
                <a:ext cx="342713" cy="461665"/>
              </a:xfrm>
              <a:prstGeom prst="rect">
                <a:avLst/>
              </a:prstGeom>
              <a:blipFill>
                <a:blip r:embed="rId22"/>
                <a:stretch>
                  <a:fillRect l="-1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2391766" y="4479503"/>
                <a:ext cx="3907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766" y="4479503"/>
                <a:ext cx="390705" cy="461665"/>
              </a:xfrm>
              <a:prstGeom prst="rect">
                <a:avLst/>
              </a:prstGeom>
              <a:blipFill>
                <a:blip r:embed="rId23"/>
                <a:stretch>
                  <a:fillRect l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918481" y="4479503"/>
                <a:ext cx="3964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481" y="4479503"/>
                <a:ext cx="396494" cy="461665"/>
              </a:xfrm>
              <a:prstGeom prst="rect">
                <a:avLst/>
              </a:prstGeom>
              <a:blipFill>
                <a:blip r:embed="rId24"/>
                <a:stretch>
                  <a:fillRect l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3426985" y="4479503"/>
                <a:ext cx="3964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⋯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985" y="4479503"/>
                <a:ext cx="396494" cy="461665"/>
              </a:xfrm>
              <a:prstGeom prst="rect">
                <a:avLst/>
              </a:prstGeom>
              <a:blipFill>
                <a:blip r:embed="rId25"/>
                <a:stretch>
                  <a:fillRect r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3851920" y="4479503"/>
                <a:ext cx="504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4479503"/>
                <a:ext cx="504056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 Box 18"/>
              <p:cNvSpPr txBox="1">
                <a:spLocks noChangeArrowheads="1"/>
              </p:cNvSpPr>
              <p:nvPr/>
            </p:nvSpPr>
            <p:spPr bwMode="auto">
              <a:xfrm>
                <a:off x="4462820" y="3870817"/>
                <a:ext cx="11893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7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2820" y="3870817"/>
                <a:ext cx="1189300" cy="461665"/>
              </a:xfrm>
              <a:prstGeom prst="rect">
                <a:avLst/>
              </a:prstGeom>
              <a:blipFill>
                <a:blip r:embed="rId27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8">
                <a:extLst>
                  <a:ext uri="{FF2B5EF4-FFF2-40B4-BE49-F238E27FC236}">
                    <a16:creationId xmlns:a16="http://schemas.microsoft.com/office/drawing/2014/main" id="{89CE8D08-E701-AEB8-A287-B621E518D7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5961" y="5085184"/>
                <a:ext cx="261962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同理</a:t>
                </a:r>
                <a14:m>
                  <m:oMath xmlns:m="http://schemas.openxmlformats.org/officeDocument/2006/math">
                    <m:r>
                      <a:rPr kumimoji="1" lang="zh-CN" altLang="en-US" sz="2400" i="1" dirty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：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=|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" name="Text Box 18">
                <a:extLst>
                  <a:ext uri="{FF2B5EF4-FFF2-40B4-BE49-F238E27FC236}">
                    <a16:creationId xmlns:a16="http://schemas.microsoft.com/office/drawing/2014/main" id="{89CE8D08-E701-AEB8-A287-B621E518D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5961" y="5085184"/>
                <a:ext cx="2619628" cy="461665"/>
              </a:xfrm>
              <a:prstGeom prst="rect">
                <a:avLst/>
              </a:prstGeom>
              <a:blipFill>
                <a:blip r:embed="rId28"/>
                <a:stretch>
                  <a:fillRect l="-3730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8">
                <a:extLst>
                  <a:ext uri="{FF2B5EF4-FFF2-40B4-BE49-F238E27FC236}">
                    <a16:creationId xmlns:a16="http://schemas.microsoft.com/office/drawing/2014/main" id="{A9B02438-9F2C-ACC5-9EC1-173A5589B4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6602" y="6279703"/>
                <a:ext cx="350724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solidFill>
                      <a:srgbClr val="FF0000"/>
                    </a:solidFill>
                    <a:ea typeface="微软雅黑 Light" panose="020B0502040204020203" pitchFamily="34" charset="-122"/>
                  </a:rPr>
                  <a:t>对照</a:t>
                </a:r>
                <a14:m>
                  <m:oMath xmlns:m="http://schemas.openxmlformats.org/officeDocument/2006/math">
                    <m:r>
                      <a:rPr kumimoji="1" lang="zh-CN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：</m:t>
                    </m:r>
                    <m:r>
                      <a:rPr kumimoji="1" lang="en-US" altLang="zh-CN" sz="2400" b="0" i="1" dirty="0" smtClean="0">
                        <a:solidFill>
                          <a:srgbClr val="FF0000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sSup>
                      <m:sSupPr>
                        <m:ctrlP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solidFill>
                          <a:srgbClr val="FF0000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solidFill>
                              <a:srgbClr val="FF0000"/>
                            </a:solidFill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solidFill>
                          <a:srgbClr val="FF0000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solidFill>
                          <a:srgbClr val="FF0000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r>
                      <a:rPr kumimoji="1" lang="en-US" altLang="zh-CN" sz="2400" b="0" i="1" dirty="0" smtClean="0">
                        <a:solidFill>
                          <a:srgbClr val="FF0000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" name="Text Box 18">
                <a:extLst>
                  <a:ext uri="{FF2B5EF4-FFF2-40B4-BE49-F238E27FC236}">
                    <a16:creationId xmlns:a16="http://schemas.microsoft.com/office/drawing/2014/main" id="{A9B02438-9F2C-ACC5-9EC1-173A5589B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6602" y="6279703"/>
                <a:ext cx="3507242" cy="461665"/>
              </a:xfrm>
              <a:prstGeom prst="rect">
                <a:avLst/>
              </a:prstGeom>
              <a:blipFill>
                <a:blip r:embed="rId31"/>
                <a:stretch>
                  <a:fillRect l="-2604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8">
                <a:extLst>
                  <a:ext uri="{FF2B5EF4-FFF2-40B4-BE49-F238E27FC236}">
                    <a16:creationId xmlns:a16="http://schemas.microsoft.com/office/drawing/2014/main" id="{CA3F51D2-9A12-1864-9842-9ACD0B498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1821" y="5085183"/>
                <a:ext cx="80021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zh-CN" altLang="en-US" sz="2400" i="1" dirty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证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毕</a:t>
                </a:r>
              </a:p>
            </p:txBody>
          </p:sp>
        </mc:Choice>
        <mc:Fallback xmlns="">
          <p:sp>
            <p:nvSpPr>
              <p:cNvPr id="7" name="Text Box 18">
                <a:extLst>
                  <a:ext uri="{FF2B5EF4-FFF2-40B4-BE49-F238E27FC236}">
                    <a16:creationId xmlns:a16="http://schemas.microsoft.com/office/drawing/2014/main" id="{CA3F51D2-9A12-1864-9842-9ACD0B498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1821" y="5085183"/>
                <a:ext cx="800219" cy="461665"/>
              </a:xfrm>
              <a:prstGeom prst="rect">
                <a:avLst/>
              </a:prstGeom>
              <a:blipFill>
                <a:blip r:embed="rId33"/>
                <a:stretch>
                  <a:fillRect l="-5344" t="-10526" r="-10687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69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1" grpId="0"/>
      <p:bldP spid="45" grpId="0"/>
      <p:bldP spid="46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2" grpId="0"/>
      <p:bldP spid="5" grpId="0" autoUpdateAnimBg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8"/>
              <p:cNvSpPr txBox="1">
                <a:spLocks noChangeArrowheads="1"/>
              </p:cNvSpPr>
              <p:nvPr/>
            </p:nvSpPr>
            <p:spPr bwMode="auto">
              <a:xfrm>
                <a:off x="179512" y="476672"/>
                <a:ext cx="726461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定理</a:t>
                </a: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zh-CN" altLang="en-US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为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𝑛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阶方阵，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可逆的充分必要条件是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|≠0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476672"/>
                <a:ext cx="7264617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258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8"/>
              <p:cNvSpPr txBox="1">
                <a:spLocks noChangeArrowheads="1"/>
              </p:cNvSpPr>
              <p:nvPr/>
            </p:nvSpPr>
            <p:spPr bwMode="auto">
              <a:xfrm>
                <a:off x="2987824" y="951167"/>
                <a:ext cx="1934632" cy="848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824" y="951167"/>
                <a:ext cx="1934632" cy="84843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84666" y="1952535"/>
            <a:ext cx="1057010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证明：</a:t>
            </a:r>
            <a:endParaRPr kumimoji="1" lang="en-US" altLang="zh-CN" sz="24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8"/>
              <p:cNvSpPr txBox="1">
                <a:spLocks noChangeArrowheads="1"/>
              </p:cNvSpPr>
              <p:nvPr/>
            </p:nvSpPr>
            <p:spPr bwMode="auto">
              <a:xfrm>
                <a:off x="1203769" y="1960756"/>
                <a:ext cx="79861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kumimoji="1" lang="en-US" altLang="zh-CN" sz="2400" i="1" smtClean="0">
                          <a:latin typeface="Cambria Math"/>
                          <a:ea typeface="Cambria Math"/>
                        </a:rPr>
                        <m:t>⇒</m:t>
                      </m:r>
                      <m:r>
                        <a:rPr kumimoji="1" lang="en-US" altLang="zh-CN" sz="24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3769" y="1960756"/>
                <a:ext cx="798617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6107"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2003227" y="1144551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kumimoji="1"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且有：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8"/>
              <p:cNvSpPr txBox="1">
                <a:spLocks noChangeArrowheads="1"/>
              </p:cNvSpPr>
              <p:nvPr/>
            </p:nvSpPr>
            <p:spPr bwMode="auto">
              <a:xfrm>
                <a:off x="1974131" y="1980228"/>
                <a:ext cx="117513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solidFill>
                      <a:schemeClr val="tx1"/>
                    </a:solidFill>
                    <a:latin typeface="Cambria Math"/>
                    <a:ea typeface="微软雅黑 Light" panose="020B0502040204020203" pitchFamily="34" charset="-122"/>
                  </a:rPr>
                  <a:t>∵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tx1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</a:t>
                </a:r>
              </a:p>
            </p:txBody>
          </p:sp>
        </mc:Choice>
        <mc:Fallback xmlns="">
          <p:sp>
            <p:nvSpPr>
              <p:cNvPr id="3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31" y="1980228"/>
                <a:ext cx="1175130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8290" t="-11842" r="-673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18"/>
              <p:cNvSpPr txBox="1">
                <a:spLocks noChangeArrowheads="1"/>
              </p:cNvSpPr>
              <p:nvPr/>
            </p:nvSpPr>
            <p:spPr bwMode="auto">
              <a:xfrm>
                <a:off x="3123019" y="1980346"/>
                <a:ext cx="183967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sSup>
                        <m:sSup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3019" y="1980346"/>
                <a:ext cx="1839671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18"/>
              <p:cNvSpPr txBox="1">
                <a:spLocks noChangeArrowheads="1"/>
              </p:cNvSpPr>
              <p:nvPr/>
            </p:nvSpPr>
            <p:spPr bwMode="auto">
              <a:xfrm>
                <a:off x="5076056" y="1963841"/>
                <a:ext cx="223080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∴|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sSup>
                        <m:sSup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=|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056" y="1963841"/>
                <a:ext cx="2230804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18"/>
              <p:cNvSpPr txBox="1">
                <a:spLocks noChangeArrowheads="1"/>
              </p:cNvSpPr>
              <p:nvPr/>
            </p:nvSpPr>
            <p:spPr bwMode="auto">
              <a:xfrm>
                <a:off x="1974131" y="2564904"/>
                <a:ext cx="219553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sSup>
                        <m:sSup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=1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31" y="2564904"/>
                <a:ext cx="2195537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18"/>
              <p:cNvSpPr txBox="1">
                <a:spLocks noChangeArrowheads="1"/>
              </p:cNvSpPr>
              <p:nvPr/>
            </p:nvSpPr>
            <p:spPr bwMode="auto">
              <a:xfrm>
                <a:off x="4427984" y="2564904"/>
                <a:ext cx="150130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≠0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7984" y="2564904"/>
                <a:ext cx="1501308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18"/>
              <p:cNvSpPr txBox="1">
                <a:spLocks noChangeArrowheads="1"/>
              </p:cNvSpPr>
              <p:nvPr/>
            </p:nvSpPr>
            <p:spPr bwMode="auto">
              <a:xfrm>
                <a:off x="1203769" y="3170586"/>
                <a:ext cx="79861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kumimoji="1" lang="en-US" altLang="zh-CN" sz="2400" i="1" smtClean="0">
                          <a:latin typeface="Cambria Math"/>
                          <a:ea typeface="Cambria Math"/>
                        </a:rPr>
                        <m:t>⇐</m:t>
                      </m:r>
                      <m:r>
                        <a:rPr kumimoji="1" lang="en-US" altLang="zh-CN" sz="24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3769" y="3170586"/>
                <a:ext cx="798617" cy="461665"/>
              </a:xfrm>
              <a:prstGeom prst="rect">
                <a:avLst/>
              </a:prstGeom>
              <a:blipFill rotWithShape="1">
                <a:blip r:embed="rId10"/>
                <a:stretch>
                  <a:fillRect l="-6107"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18"/>
              <p:cNvSpPr txBox="1">
                <a:spLocks noChangeArrowheads="1"/>
              </p:cNvSpPr>
              <p:nvPr/>
            </p:nvSpPr>
            <p:spPr bwMode="auto">
              <a:xfrm>
                <a:off x="1974131" y="3170586"/>
                <a:ext cx="285302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latin typeface="Cambria Math"/>
                    <a:ea typeface="微软雅黑 Light" panose="020B0502040204020203" pitchFamily="34" charset="-122"/>
                  </a:rPr>
                  <a:t>∵ 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=|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31" y="3170586"/>
                <a:ext cx="2853025" cy="461665"/>
              </a:xfrm>
              <a:prstGeom prst="rect">
                <a:avLst/>
              </a:prstGeom>
              <a:blipFill rotWithShape="1">
                <a:blip r:embed="rId11"/>
                <a:stretch>
                  <a:fillRect l="-3419" t="-11842" b="-27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18"/>
              <p:cNvSpPr txBox="1">
                <a:spLocks noChangeArrowheads="1"/>
              </p:cNvSpPr>
              <p:nvPr/>
            </p:nvSpPr>
            <p:spPr bwMode="auto">
              <a:xfrm>
                <a:off x="5076056" y="3170585"/>
                <a:ext cx="163224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ea typeface="微软雅黑 Light" panose="020B0502040204020203" pitchFamily="34" charset="-122"/>
                  </a:rPr>
                  <a:t>又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400" dirty="0">
                        <a:latin typeface="Cambria Math"/>
                        <a:ea typeface="微软雅黑 Light" panose="020B0502040204020203" pitchFamily="34" charset="-122"/>
                      </a:rPr>
                      <m:t>∵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kumimoji="1" lang="en-US" altLang="zh-CN" sz="24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</m:d>
                    <m:r>
                      <a:rPr kumimoji="1" lang="en-US" altLang="zh-CN" sz="24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endParaRPr kumimoji="1" lang="zh-CN" altLang="en-US" sz="2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056" y="3170585"/>
                <a:ext cx="1632242" cy="461665"/>
              </a:xfrm>
              <a:prstGeom prst="rect">
                <a:avLst/>
              </a:prstGeom>
              <a:blipFill rotWithShape="1">
                <a:blip r:embed="rId12"/>
                <a:stretch>
                  <a:fillRect l="-5993" t="-10526" r="-375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18"/>
              <p:cNvSpPr txBox="1">
                <a:spLocks noChangeArrowheads="1"/>
              </p:cNvSpPr>
              <p:nvPr/>
            </p:nvSpPr>
            <p:spPr bwMode="auto">
              <a:xfrm>
                <a:off x="1974131" y="3818658"/>
                <a:ext cx="4038029" cy="8357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∴ 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)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f>
                        <m:fPr>
                          <m:ctrlPr>
                            <a:rPr kumimoji="1"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i="1" dirty="0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)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31" y="3818658"/>
                <a:ext cx="4038029" cy="83574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Box 18"/>
              <p:cNvSpPr txBox="1">
                <a:spLocks noChangeArrowheads="1"/>
              </p:cNvSpPr>
              <p:nvPr/>
            </p:nvSpPr>
            <p:spPr bwMode="auto">
              <a:xfrm>
                <a:off x="1974131" y="4754762"/>
                <a:ext cx="132792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/>
                        <a:ea typeface="Cambria Math"/>
                      </a:rPr>
                      <m:t>∴ </m:t>
                    </m:r>
                    <m:r>
                      <a:rPr kumimoji="1" lang="en-US" altLang="zh-CN" sz="2400" i="1" dirty="0" smtClean="0">
                        <a:solidFill>
                          <a:schemeClr val="tx1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</a:t>
                </a:r>
              </a:p>
            </p:txBody>
          </p:sp>
        </mc:Choice>
        <mc:Fallback xmlns="">
          <p:sp>
            <p:nvSpPr>
              <p:cNvPr id="5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4131" y="4754762"/>
                <a:ext cx="1327928" cy="461665"/>
              </a:xfrm>
              <a:prstGeom prst="rect">
                <a:avLst/>
              </a:prstGeom>
              <a:blipFill rotWithShape="1">
                <a:blip r:embed="rId14"/>
                <a:stretch>
                  <a:fillRect t="-10526" r="-5963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Box 18"/>
              <p:cNvSpPr txBox="1">
                <a:spLocks noChangeArrowheads="1"/>
              </p:cNvSpPr>
              <p:nvPr/>
            </p:nvSpPr>
            <p:spPr bwMode="auto">
              <a:xfrm>
                <a:off x="4924861" y="4561375"/>
                <a:ext cx="1934632" cy="848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4861" y="4561375"/>
                <a:ext cx="1934632" cy="848437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839160" y="4754762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kumimoji="1"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且有：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Box 40"/>
              <p:cNvSpPr txBox="1">
                <a:spLocks noChangeArrowheads="1"/>
              </p:cNvSpPr>
              <p:nvPr/>
            </p:nvSpPr>
            <p:spPr bwMode="auto">
              <a:xfrm>
                <a:off x="1229974" y="6063679"/>
                <a:ext cx="191751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奇异矩阵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⇔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56" name="Text 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9974" y="6063679"/>
                <a:ext cx="1917513" cy="461665"/>
              </a:xfrm>
              <a:prstGeom prst="rect">
                <a:avLst/>
              </a:prstGeom>
              <a:blipFill>
                <a:blip r:embed="rId16"/>
                <a:stretch>
                  <a:fillRect l="-5096" t="-1066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2"/>
              <p:cNvSpPr txBox="1">
                <a:spLocks noChangeArrowheads="1"/>
              </p:cNvSpPr>
              <p:nvPr/>
            </p:nvSpPr>
            <p:spPr bwMode="auto">
              <a:xfrm>
                <a:off x="1214099" y="5521697"/>
                <a:ext cx="222528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非奇异矩阵 </a:t>
                </a:r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⇔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58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4099" y="5521697"/>
                <a:ext cx="2225289" cy="461665"/>
              </a:xfrm>
              <a:prstGeom prst="rect">
                <a:avLst/>
              </a:prstGeom>
              <a:blipFill>
                <a:blip r:embed="rId17"/>
                <a:stretch>
                  <a:fillRect l="-4110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44"/>
              <p:cNvSpPr txBox="1">
                <a:spLocks noChangeArrowheads="1"/>
              </p:cNvSpPr>
              <p:nvPr/>
            </p:nvSpPr>
            <p:spPr bwMode="auto">
              <a:xfrm>
                <a:off x="6228184" y="6059214"/>
                <a:ext cx="2016224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⇔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退化矩阵</a:t>
                </a:r>
              </a:p>
            </p:txBody>
          </p:sp>
        </mc:Choice>
        <mc:Fallback xmlns="">
          <p:sp>
            <p:nvSpPr>
              <p:cNvPr id="60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8184" y="6059214"/>
                <a:ext cx="2016224" cy="457200"/>
              </a:xfrm>
              <a:prstGeom prst="rect">
                <a:avLst/>
              </a:prstGeom>
              <a:blipFill>
                <a:blip r:embed="rId18"/>
                <a:stretch>
                  <a:fillRect t="-1066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5"/>
              <p:cNvSpPr txBox="1">
                <a:spLocks noChangeArrowheads="1"/>
              </p:cNvSpPr>
              <p:nvPr/>
            </p:nvSpPr>
            <p:spPr bwMode="auto">
              <a:xfrm>
                <a:off x="6228184" y="5517232"/>
                <a:ext cx="216024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1" lang="zh-CN" altLang="en-US" sz="2400" i="1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⇔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非退化矩阵</a:t>
                </a:r>
              </a:p>
            </p:txBody>
          </p:sp>
        </mc:Choice>
        <mc:Fallback xmlns="">
          <p:sp>
            <p:nvSpPr>
              <p:cNvPr id="61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8184" y="5517232"/>
                <a:ext cx="2160240" cy="457200"/>
              </a:xfrm>
              <a:prstGeom prst="rect">
                <a:avLst/>
              </a:prstGeom>
              <a:blipFill>
                <a:blip r:embed="rId19"/>
                <a:stretch>
                  <a:fillRect t="-10667" r="-2260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Box 46"/>
          <p:cNvSpPr txBox="1">
            <a:spLocks noChangeArrowheads="1"/>
          </p:cNvSpPr>
          <p:nvPr/>
        </p:nvSpPr>
        <p:spPr bwMode="auto">
          <a:xfrm>
            <a:off x="496549" y="6059214"/>
            <a:ext cx="657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F"/>
            </a:pPr>
            <a:r>
              <a:rPr kumimoji="1" lang="en-US" altLang="zh-CN" sz="240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</a:p>
        </p:txBody>
      </p:sp>
      <p:sp>
        <p:nvSpPr>
          <p:cNvPr id="63" name="Text Box 47"/>
          <p:cNvSpPr txBox="1">
            <a:spLocks noChangeArrowheads="1"/>
          </p:cNvSpPr>
          <p:nvPr/>
        </p:nvSpPr>
        <p:spPr bwMode="auto">
          <a:xfrm>
            <a:off x="496549" y="5517232"/>
            <a:ext cx="657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F"/>
            </a:pPr>
            <a:r>
              <a:rPr kumimoji="1" lang="en-US" altLang="zh-CN" sz="240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Box 18"/>
              <p:cNvSpPr txBox="1">
                <a:spLocks noChangeArrowheads="1"/>
              </p:cNvSpPr>
              <p:nvPr/>
            </p:nvSpPr>
            <p:spPr bwMode="auto">
              <a:xfrm>
                <a:off x="3421206" y="5517232"/>
                <a:ext cx="123950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≠0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6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1206" y="5517232"/>
                <a:ext cx="1239506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 Box 18"/>
              <p:cNvSpPr txBox="1">
                <a:spLocks noChangeArrowheads="1"/>
              </p:cNvSpPr>
              <p:nvPr/>
            </p:nvSpPr>
            <p:spPr bwMode="auto">
              <a:xfrm>
                <a:off x="3421206" y="6059214"/>
                <a:ext cx="123950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6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1206" y="6059214"/>
                <a:ext cx="1239506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Box 44"/>
              <p:cNvSpPr txBox="1">
                <a:spLocks noChangeArrowheads="1"/>
              </p:cNvSpPr>
              <p:nvPr/>
            </p:nvSpPr>
            <p:spPr bwMode="auto">
              <a:xfrm>
                <a:off x="4577774" y="6063679"/>
                <a:ext cx="172241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1" lang="zh-CN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⇔</m:t>
                    </m:r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不可逆</a:t>
                </a:r>
              </a:p>
            </p:txBody>
          </p:sp>
        </mc:Choice>
        <mc:Fallback xmlns="">
          <p:sp>
            <p:nvSpPr>
              <p:cNvPr id="66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7774" y="6063679"/>
                <a:ext cx="1722418" cy="461665"/>
              </a:xfrm>
              <a:prstGeom prst="rect">
                <a:avLst/>
              </a:prstGeom>
              <a:blipFill>
                <a:blip r:embed="rId22"/>
                <a:stretch>
                  <a:fillRect t="-1066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Box 44"/>
              <p:cNvSpPr txBox="1">
                <a:spLocks noChangeArrowheads="1"/>
              </p:cNvSpPr>
              <p:nvPr/>
            </p:nvSpPr>
            <p:spPr bwMode="auto">
              <a:xfrm>
                <a:off x="4577774" y="5521697"/>
                <a:ext cx="132008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1" lang="zh-CN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⇔</m:t>
                    </m:r>
                  </m:oMath>
                </a14:m>
                <a:r>
                  <a:rPr kumimoji="1" lang="zh-CN" altLang="en-US" sz="2400" dirty="0">
                    <a:solidFill>
                      <a:srgbClr val="FF00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可逆</a:t>
                </a:r>
              </a:p>
            </p:txBody>
          </p:sp>
        </mc:Choice>
        <mc:Fallback xmlns="">
          <p:sp>
            <p:nvSpPr>
              <p:cNvPr id="67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7774" y="5521697"/>
                <a:ext cx="1320086" cy="461665"/>
              </a:xfrm>
              <a:prstGeom prst="rect">
                <a:avLst/>
              </a:prstGeom>
              <a:blipFill>
                <a:blip r:embed="rId23"/>
                <a:stretch>
                  <a:fillRect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5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1" grpId="0"/>
      <p:bldP spid="45" grpId="0" autoUpdateAnimBg="0"/>
      <p:bldP spid="46" grpId="0" autoUpdateAnimBg="0"/>
      <p:bldP spid="47" grpId="0" autoUpdateAnimBg="0"/>
      <p:bldP spid="48" grpId="0" autoUpdateAnimBg="0"/>
      <p:bldP spid="49" grpId="0"/>
      <p:bldP spid="50" grpId="0"/>
      <p:bldP spid="51" grpId="0" autoUpdateAnimBg="0"/>
      <p:bldP spid="52" grpId="0"/>
      <p:bldP spid="53" grpId="0"/>
      <p:bldP spid="54" grpId="0"/>
      <p:bldP spid="55" grpId="0"/>
      <p:bldP spid="56" grpId="0" build="p" autoUpdateAnimBg="0"/>
      <p:bldP spid="58" grpId="0" build="p" autoUpdateAnimBg="0"/>
      <p:bldP spid="60" grpId="0" build="p" autoUpdateAnimBg="0"/>
      <p:bldP spid="61" grpId="0" build="p" autoUpdateAnimBg="0"/>
      <p:bldP spid="64" grpId="0" autoUpdateAnimBg="0"/>
      <p:bldP spid="65" grpId="0" autoUpdateAnimBg="0"/>
      <p:bldP spid="66" grpId="0" build="p" autoUpdateAnimBg="0"/>
      <p:bldP spid="6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01" name="Text Box 29"/>
          <p:cNvSpPr txBox="1">
            <a:spLocks noChangeArrowheads="1"/>
          </p:cNvSpPr>
          <p:nvPr/>
        </p:nvSpPr>
        <p:spPr bwMode="auto">
          <a:xfrm>
            <a:off x="424037" y="5090398"/>
            <a:ext cx="763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F"/>
            </a:pPr>
            <a:r>
              <a:rPr kumimoji="1" lang="en-US" altLang="zh-CN" sz="2800" b="1" dirty="0">
                <a:solidFill>
                  <a:srgbClr val="2414FA"/>
                </a:solidFill>
                <a:latin typeface="Verdana" pitchFamily="34" charset="0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8"/>
              <p:cNvSpPr txBox="1">
                <a:spLocks noChangeArrowheads="1"/>
              </p:cNvSpPr>
              <p:nvPr/>
            </p:nvSpPr>
            <p:spPr bwMode="auto">
              <a:xfrm>
                <a:off x="1259632" y="5589127"/>
                <a:ext cx="4902368" cy="10082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buClr>
                    <a:schemeClr val="accent2"/>
                  </a:buClr>
                  <a:defRPr kumimoji="1" sz="240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  <a:lvl2pPr marL="742950" indent="-285750" eaLnBrk="0" hangingPunct="0">
                  <a:defRPr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latin typeface="Arial" charset="0"/>
                    <a:ea typeface="宋体" pitchFamily="2" charset="-122"/>
                  </a:defRPr>
                </a:lvl9pPr>
              </a:lstStyle>
              <a:p>
                <a:r>
                  <a:rPr lang="zh-CN" altLang="en-US" dirty="0">
                    <a:solidFill>
                      <a:schemeClr val="tx1"/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是否为</a:t>
                </a:r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的逆矩阵，只需验证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𝐵𝐴</m:t>
                    </m:r>
                    <m:r>
                      <a:rPr lang="en-US" altLang="zh-CN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中的一个即可</a:t>
                </a:r>
              </a:p>
            </p:txBody>
          </p:sp>
        </mc:Choice>
        <mc:Fallback xmlns="">
          <p:sp>
            <p:nvSpPr>
              <p:cNvPr id="2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5589127"/>
                <a:ext cx="4902368" cy="1008225"/>
              </a:xfrm>
              <a:prstGeom prst="rect">
                <a:avLst/>
              </a:prstGeom>
              <a:blipFill>
                <a:blip r:embed="rId2"/>
                <a:stretch>
                  <a:fillRect l="-1990" r="-871" b="-13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5111259"/>
                <a:ext cx="128644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𝐴𝐵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5111259"/>
                <a:ext cx="128644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8"/>
              <p:cNvSpPr txBox="1">
                <a:spLocks noChangeArrowheads="1"/>
              </p:cNvSpPr>
              <p:nvPr/>
            </p:nvSpPr>
            <p:spPr bwMode="auto">
              <a:xfrm>
                <a:off x="1424166" y="3993799"/>
                <a:ext cx="128118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4166" y="3993799"/>
                <a:ext cx="1281185" cy="461665"/>
              </a:xfrm>
              <a:prstGeom prst="rect">
                <a:avLst/>
              </a:prstGeom>
              <a:blipFill>
                <a:blip r:embed="rId4"/>
                <a:stretch>
                  <a:fillRect l="-14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1424166" y="3528993"/>
                <a:ext cx="26606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𝐴𝐵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4166" y="3528993"/>
                <a:ext cx="2660600" cy="461665"/>
              </a:xfrm>
              <a:prstGeom prst="rect">
                <a:avLst/>
              </a:prstGeom>
              <a:blipFill>
                <a:blip r:embed="rId5"/>
                <a:stretch>
                  <a:fillRect l="-6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8"/>
              <p:cNvSpPr txBox="1">
                <a:spLocks noChangeArrowheads="1"/>
              </p:cNvSpPr>
              <p:nvPr/>
            </p:nvSpPr>
            <p:spPr bwMode="auto">
              <a:xfrm>
                <a:off x="1424166" y="2991451"/>
                <a:ext cx="558563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dirty="0">
                    <a:ea typeface="微软雅黑 Light" panose="020B0502040204020203" pitchFamily="34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𝐴𝐵</m:t>
                    </m:r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两边同左乘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，同右乘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得：</a:t>
                </a:r>
              </a:p>
            </p:txBody>
          </p:sp>
        </mc:Choice>
        <mc:Fallback xmlns="">
          <p:sp>
            <p:nvSpPr>
              <p:cNvPr id="3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4166" y="2991451"/>
                <a:ext cx="5585632" cy="461665"/>
              </a:xfrm>
              <a:prstGeom prst="rect">
                <a:avLst/>
              </a:prstGeom>
              <a:blipFill>
                <a:blip r:embed="rId6"/>
                <a:stretch>
                  <a:fillRect l="-1747" t="-10667" r="-655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8"/>
              <p:cNvSpPr txBox="1">
                <a:spLocks noChangeArrowheads="1"/>
              </p:cNvSpPr>
              <p:nvPr/>
            </p:nvSpPr>
            <p:spPr bwMode="auto">
              <a:xfrm>
                <a:off x="395536" y="379507"/>
                <a:ext cx="7660110" cy="1007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buClr>
                    <a:schemeClr val="accent2"/>
                  </a:buClr>
                </a:pPr>
                <a:r>
                  <a:rPr kumimoji="1"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推论</a:t>
                </a:r>
                <a:r>
                  <a:rPr kumimoji="1"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:   </a:t>
                </a: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,</m:t>
                    </m:r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为同阶方阵，若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𝐴𝐵</m:t>
                    </m:r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r>
                  <a:rPr kumimoji="1"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,</a:t>
                </a: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则方阵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,</m:t>
                    </m:r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均可逆</a:t>
                </a:r>
                <a:r>
                  <a:rPr kumimoji="1"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,</a:t>
                </a:r>
              </a:p>
              <a:p>
                <a:pPr eaLnBrk="1" hangingPunct="1">
                  <a:lnSpc>
                    <a:spcPct val="130000"/>
                  </a:lnSpc>
                  <a:buClr>
                    <a:schemeClr val="accent2"/>
                  </a:buClr>
                </a:pP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          且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0" dirty="0" smtClean="0">
                        <a:latin typeface="Cambria Math"/>
                        <a:ea typeface="微软雅黑 Light" panose="020B0502040204020203" pitchFamily="34" charset="-122"/>
                      </a:rPr>
                      <m:t>,</m:t>
                    </m:r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379507"/>
                <a:ext cx="7660110" cy="1007135"/>
              </a:xfrm>
              <a:prstGeom prst="rect">
                <a:avLst/>
              </a:prstGeom>
              <a:blipFill>
                <a:blip r:embed="rId9"/>
                <a:stretch>
                  <a:fillRect l="-1274" r="-318" b="-13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8"/>
              <p:cNvSpPr txBox="1">
                <a:spLocks noChangeArrowheads="1"/>
              </p:cNvSpPr>
              <p:nvPr/>
            </p:nvSpPr>
            <p:spPr bwMode="auto">
              <a:xfrm>
                <a:off x="2483775" y="1930526"/>
                <a:ext cx="16775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75" y="1930526"/>
                <a:ext cx="1677575" cy="461665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>
                <a:off x="1424166" y="1930526"/>
                <a:ext cx="138993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40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4166" y="1930526"/>
                <a:ext cx="1389931" cy="461665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3974552" y="1930526"/>
                <a:ext cx="7606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=1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4552" y="1930526"/>
                <a:ext cx="760657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8"/>
              <p:cNvSpPr txBox="1">
                <a:spLocks noChangeArrowheads="1"/>
              </p:cNvSpPr>
              <p:nvPr/>
            </p:nvSpPr>
            <p:spPr bwMode="auto">
              <a:xfrm>
                <a:off x="1424166" y="2410466"/>
                <a:ext cx="253255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Cambria Math"/>
                      </a:rPr>
                      <m:t>∴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</m:d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≠0</m:t>
                    </m:r>
                    <m:r>
                      <a:rPr kumimoji="1" lang="en-US" altLang="zh-CN" sz="2400" b="0" i="0" dirty="0" smtClean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,</m:t>
                    </m:r>
                  </m:oMath>
                </a14:m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  <m:t>𝐵</m:t>
                        </m:r>
                      </m:e>
                    </m:d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≠</m:t>
                    </m:r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0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4166" y="2410466"/>
                <a:ext cx="253255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4212158" y="2414690"/>
                <a:ext cx="197554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dirty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∴</m:t>
                      </m:r>
                      <m:r>
                        <a:rPr kumimoji="1" lang="en-US" altLang="zh-CN" sz="2400" dirty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dirty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,</m:t>
                      </m:r>
                      <m:r>
                        <a:rPr kumimoji="1" lang="en-US" altLang="zh-CN" sz="2400" dirty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zh-CN" altLang="en-US" sz="2400" dirty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均可逆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2158" y="2414690"/>
                <a:ext cx="1975541" cy="461665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18"/>
              <p:cNvSpPr txBox="1">
                <a:spLocks noChangeArrowheads="1"/>
              </p:cNvSpPr>
              <p:nvPr/>
            </p:nvSpPr>
            <p:spPr bwMode="auto">
              <a:xfrm>
                <a:off x="2525386" y="5111259"/>
                <a:ext cx="168565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⇔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𝐵𝐴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5386" y="5111259"/>
                <a:ext cx="1685654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330243" y="1426469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证明：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18"/>
              <p:cNvSpPr txBox="1">
                <a:spLocks noChangeArrowheads="1"/>
              </p:cNvSpPr>
              <p:nvPr/>
            </p:nvSpPr>
            <p:spPr bwMode="auto">
              <a:xfrm>
                <a:off x="1424166" y="1412776"/>
                <a:ext cx="154824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/>
                          <a:ea typeface="Cambria Math"/>
                        </a:rPr>
                        <m:t>∵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𝐴𝐵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4166" y="1412776"/>
                <a:ext cx="1548244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8"/>
              <p:cNvSpPr txBox="1">
                <a:spLocks noChangeArrowheads="1"/>
              </p:cNvSpPr>
              <p:nvPr/>
            </p:nvSpPr>
            <p:spPr bwMode="auto">
              <a:xfrm>
                <a:off x="4109088" y="5105460"/>
                <a:ext cx="249164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⇔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𝐵𝐴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9088" y="5105460"/>
                <a:ext cx="2491643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8">
                <a:extLst>
                  <a:ext uri="{FF2B5EF4-FFF2-40B4-BE49-F238E27FC236}">
                    <a16:creationId xmlns:a16="http://schemas.microsoft.com/office/drawing/2014/main" id="{DBB7C1D4-FD13-3607-CBEC-58BED1ADAB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1870" y="4011518"/>
                <a:ext cx="234897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>
                          <a:latin typeface="Cambria Math"/>
                          <a:ea typeface="Cambria Math"/>
                        </a:rPr>
                        <m:t>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𝐵𝐴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" name="Text Box 18">
                <a:extLst>
                  <a:ext uri="{FF2B5EF4-FFF2-40B4-BE49-F238E27FC236}">
                    <a16:creationId xmlns:a16="http://schemas.microsoft.com/office/drawing/2014/main" id="{DBB7C1D4-FD13-3607-CBEC-58BED1ADA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1870" y="4011518"/>
                <a:ext cx="2348976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8">
                <a:extLst>
                  <a:ext uri="{FF2B5EF4-FFF2-40B4-BE49-F238E27FC236}">
                    <a16:creationId xmlns:a16="http://schemas.microsoft.com/office/drawing/2014/main" id="{3F9D5282-1DE8-0B09-8CF4-A2694BCC10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3778" y="4544913"/>
                <a:ext cx="26813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 dirty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i="1" dirty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 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,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" name="Text Box 18">
                <a:extLst>
                  <a:ext uri="{FF2B5EF4-FFF2-40B4-BE49-F238E27FC236}">
                    <a16:creationId xmlns:a16="http://schemas.microsoft.com/office/drawing/2014/main" id="{3F9D5282-1DE8-0B09-8CF4-A2694BCC1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3778" y="4544913"/>
                <a:ext cx="2681375" cy="461665"/>
              </a:xfrm>
              <a:prstGeom prst="rect">
                <a:avLst/>
              </a:prstGeom>
              <a:blipFill>
                <a:blip r:embed="rId24"/>
                <a:stretch>
                  <a:fillRect l="-68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69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/>
      <p:bldP spid="30" grpId="0"/>
      <p:bldP spid="31" grpId="0"/>
      <p:bldP spid="33" grpId="0"/>
      <p:bldP spid="34" grpId="0"/>
      <p:bldP spid="35" grpId="0"/>
      <p:bldP spid="36" grpId="0"/>
      <p:bldP spid="37" grpId="0"/>
      <p:bldP spid="38" grpId="0"/>
      <p:bldP spid="40" grpId="0"/>
      <p:bldP spid="21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73" name="Text Box 41"/>
          <p:cNvSpPr txBox="1">
            <a:spLocks noChangeArrowheads="1"/>
          </p:cNvSpPr>
          <p:nvPr/>
        </p:nvSpPr>
        <p:spPr bwMode="auto">
          <a:xfrm>
            <a:off x="5148064" y="4667603"/>
            <a:ext cx="763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F"/>
            </a:pPr>
            <a:r>
              <a:rPr kumimoji="1" lang="en-US" altLang="zh-CN" sz="2800" b="1" dirty="0">
                <a:solidFill>
                  <a:srgbClr val="0000CC"/>
                </a:solidFill>
                <a:latin typeface="Verdana" pitchFamily="34" charset="0"/>
              </a:rPr>
              <a:t> </a:t>
            </a:r>
            <a:r>
              <a:rPr kumimoji="1" lang="en-US" altLang="zh-CN" sz="2800" b="1" dirty="0">
                <a:latin typeface="Verdana" pitchFamily="34" charset="0"/>
              </a:rPr>
              <a:t> </a:t>
            </a:r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5697904" y="4667603"/>
            <a:ext cx="3170763" cy="1655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000" dirty="0">
                <a:latin typeface="Abel" panose="02000506030000020004" pitchFamily="2" charset="0"/>
                <a:ea typeface="微软雅黑 Light" panose="020B0502040204020203" pitchFamily="34" charset="-122"/>
              </a:rPr>
              <a:t>二阶矩阵求逆：</a:t>
            </a:r>
            <a:endParaRPr kumimoji="1" lang="en-US" altLang="zh-CN" sz="2000" dirty="0">
              <a:latin typeface="Abel" panose="02000506030000020004" pitchFamily="2" charset="0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000" dirty="0">
                <a:latin typeface="Abel" panose="02000506030000020004" pitchFamily="2" charset="0"/>
                <a:ea typeface="微软雅黑 Light" panose="020B0502040204020203" pitchFamily="34" charset="-122"/>
              </a:rPr>
              <a:t>①</a:t>
            </a:r>
            <a:r>
              <a:rPr kumimoji="1"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主对角线元素交换位置</a:t>
            </a:r>
            <a:endParaRPr kumimoji="1"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zh-CN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②</a:t>
            </a:r>
            <a:r>
              <a:rPr kumimoji="1"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副对角线元素改变符号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③乘以行列式的倒数</a:t>
            </a:r>
          </a:p>
        </p:txBody>
      </p:sp>
      <p:sp>
        <p:nvSpPr>
          <p:cNvPr id="29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55905" y="398431"/>
            <a:ext cx="793017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例 </a:t>
            </a: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kumimoji="1" lang="en-US" altLang="zh-CN" sz="28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908405" y="255037"/>
                <a:ext cx="3810274" cy="708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240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</a:t>
                </a:r>
              </a:p>
            </p:txBody>
          </p:sp>
        </mc:Choice>
        <mc:Fallback xmlns="">
          <p:sp>
            <p:nvSpPr>
              <p:cNvPr id="3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8405" y="255037"/>
                <a:ext cx="3810274" cy="708143"/>
              </a:xfrm>
              <a:prstGeom prst="rect">
                <a:avLst/>
              </a:prstGeom>
              <a:blipFill rotWithShape="1">
                <a:blip r:embed="rId2"/>
                <a:stretch>
                  <a:fillRect l="-2400" r="-1600" b="-17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8"/>
              <p:cNvSpPr txBox="1">
                <a:spLocks noChangeArrowheads="1"/>
              </p:cNvSpPr>
              <p:nvPr/>
            </p:nvSpPr>
            <p:spPr bwMode="auto">
              <a:xfrm>
                <a:off x="6361171" y="188640"/>
                <a:ext cx="1934632" cy="848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solidFill>
                            <a:srgbClr val="FF0000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i="1" dirty="0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  <m:r>
                            <a:rPr kumimoji="1" lang="en-US" altLang="zh-CN" sz="2400" i="1" dirty="0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rgbClr val="FF0000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1171" y="188640"/>
                <a:ext cx="1934632" cy="848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1037077"/>
                <a:ext cx="1914691" cy="708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1037077"/>
                <a:ext cx="1914691" cy="70814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57457" y="1165723"/>
            <a:ext cx="793017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</a:t>
            </a: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endParaRPr kumimoji="1" lang="en-US" altLang="zh-CN" sz="28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2987824" y="1167135"/>
                <a:ext cx="7606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=7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824" y="1167135"/>
                <a:ext cx="76065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8"/>
              <p:cNvSpPr txBox="1">
                <a:spLocks noChangeArrowheads="1"/>
              </p:cNvSpPr>
              <p:nvPr/>
            </p:nvSpPr>
            <p:spPr bwMode="auto">
              <a:xfrm>
                <a:off x="1302763" y="1839215"/>
                <a:ext cx="130702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11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=5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2763" y="1839215"/>
                <a:ext cx="1307024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1402" b="-2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2951971" y="1839214"/>
                <a:ext cx="153625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12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=−1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1971" y="1839214"/>
                <a:ext cx="1536254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794" b="-2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18"/>
              <p:cNvSpPr txBox="1">
                <a:spLocks noChangeArrowheads="1"/>
              </p:cNvSpPr>
              <p:nvPr/>
            </p:nvSpPr>
            <p:spPr bwMode="auto">
              <a:xfrm>
                <a:off x="4724573" y="1839213"/>
                <a:ext cx="154337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21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=−3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573" y="1839213"/>
                <a:ext cx="1543371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791" b="-2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18"/>
              <p:cNvSpPr txBox="1">
                <a:spLocks noChangeArrowheads="1"/>
              </p:cNvSpPr>
              <p:nvPr/>
            </p:nvSpPr>
            <p:spPr bwMode="auto">
              <a:xfrm>
                <a:off x="6498218" y="1839213"/>
                <a:ext cx="131414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22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=2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8218" y="1839213"/>
                <a:ext cx="1314142" cy="461665"/>
              </a:xfrm>
              <a:prstGeom prst="rect">
                <a:avLst/>
              </a:prstGeom>
              <a:blipFill>
                <a:blip r:embed="rId9"/>
                <a:stretch>
                  <a:fillRect l="-1389" b="-2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2420888"/>
                <a:ext cx="4321376" cy="7763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sz="2400" i="1" dirty="0">
                                        <a:latin typeface="Cambria Math" panose="02040503050406030204" pitchFamily="18" charset="0"/>
                                        <a:ea typeface="微软雅黑 Light" panose="020B0502040204020203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sz="2400" i="1" dirty="0">
                                        <a:latin typeface="Cambria Math" panose="02040503050406030204" pitchFamily="18" charset="0"/>
                                        <a:ea typeface="微软雅黑 Light" panose="020B0502040204020203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dirty="0" smtClean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2</m:t>
                                    </m:r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sz="2400" i="1" dirty="0">
                                        <a:latin typeface="Cambria Math" panose="02040503050406030204" pitchFamily="18" charset="0"/>
                                        <a:ea typeface="微软雅黑 Light" panose="020B0502040204020203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1</m:t>
                                    </m:r>
                                    <m:r>
                                      <a:rPr kumimoji="1" lang="en-US" altLang="zh-CN" sz="2400" b="0" i="1" dirty="0" smtClean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zh-CN" sz="2400" i="1" dirty="0">
                                        <a:latin typeface="Cambria Math" panose="02040503050406030204" pitchFamily="18" charset="0"/>
                                        <a:ea typeface="微软雅黑 Light" panose="020B0502040204020203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dirty="0" smtClean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2420888"/>
                <a:ext cx="4321376" cy="776303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3218587"/>
                <a:ext cx="1934632" cy="848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3218587"/>
                <a:ext cx="1934632" cy="848437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18"/>
              <p:cNvSpPr txBox="1">
                <a:spLocks noChangeArrowheads="1"/>
              </p:cNvSpPr>
              <p:nvPr/>
            </p:nvSpPr>
            <p:spPr bwMode="auto">
              <a:xfrm>
                <a:off x="3059832" y="3218587"/>
                <a:ext cx="2142831" cy="784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7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832" y="3218587"/>
                <a:ext cx="2142831" cy="78489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18"/>
              <p:cNvSpPr txBox="1">
                <a:spLocks noChangeArrowheads="1"/>
              </p:cNvSpPr>
              <p:nvPr/>
            </p:nvSpPr>
            <p:spPr bwMode="auto">
              <a:xfrm>
                <a:off x="950474" y="4401559"/>
                <a:ext cx="1774075" cy="7157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474" y="4401559"/>
                <a:ext cx="1774075" cy="71570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18"/>
              <p:cNvSpPr txBox="1">
                <a:spLocks noChangeArrowheads="1"/>
              </p:cNvSpPr>
              <p:nvPr/>
            </p:nvSpPr>
            <p:spPr bwMode="auto">
              <a:xfrm>
                <a:off x="1013626" y="5409197"/>
                <a:ext cx="3599832" cy="7863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𝑎𝑑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𝑏𝑐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</m:t>
                                </m:r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</m:t>
                                </m:r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3626" y="5409197"/>
                <a:ext cx="3599832" cy="786369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27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4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73" grpId="0"/>
      <p:bldP spid="27" grpId="0" autoUpdateAnimBg="0"/>
      <p:bldP spid="32" grpId="0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55905" y="398431"/>
            <a:ext cx="793017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例</a:t>
            </a: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kumimoji="1" lang="en-US" altLang="zh-CN" sz="28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924986" y="63637"/>
                <a:ext cx="4645374" cy="1098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240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−2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</a:t>
                </a:r>
              </a:p>
            </p:txBody>
          </p:sp>
        </mc:Choice>
        <mc:Fallback xmlns="">
          <p:sp>
            <p:nvSpPr>
              <p:cNvPr id="3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4986" y="63637"/>
                <a:ext cx="4645374" cy="1098442"/>
              </a:xfrm>
              <a:prstGeom prst="rect">
                <a:avLst/>
              </a:prstGeom>
              <a:blipFill rotWithShape="1">
                <a:blip r:embed="rId2"/>
                <a:stretch>
                  <a:fillRect l="-21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8"/>
              <p:cNvSpPr txBox="1">
                <a:spLocks noChangeArrowheads="1"/>
              </p:cNvSpPr>
              <p:nvPr/>
            </p:nvSpPr>
            <p:spPr bwMode="auto">
              <a:xfrm>
                <a:off x="1331640" y="1268760"/>
                <a:ext cx="2628155" cy="10665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1268760"/>
                <a:ext cx="2628155" cy="106657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57457" y="1576622"/>
            <a:ext cx="793017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</a:t>
            </a: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endParaRPr kumimoji="1" lang="en-US" altLang="zh-CN" sz="28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3750918" y="1571215"/>
                <a:ext cx="11598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=−22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0918" y="1571215"/>
                <a:ext cx="1159805" cy="461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8"/>
              <p:cNvSpPr txBox="1">
                <a:spLocks noChangeArrowheads="1"/>
              </p:cNvSpPr>
              <p:nvPr/>
            </p:nvSpPr>
            <p:spPr bwMode="auto">
              <a:xfrm>
                <a:off x="1187624" y="2348882"/>
                <a:ext cx="130702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11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=6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2348882"/>
                <a:ext cx="1307024" cy="461665"/>
              </a:xfrm>
              <a:prstGeom prst="rect">
                <a:avLst/>
              </a:prstGeom>
              <a:blipFill>
                <a:blip r:embed="rId5"/>
                <a:stretch>
                  <a:fillRect l="-1402" b="-2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1187624" y="2819223"/>
                <a:ext cx="130702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12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=1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2819223"/>
                <a:ext cx="1307024" cy="461665"/>
              </a:xfrm>
              <a:prstGeom prst="rect">
                <a:avLst/>
              </a:prstGeom>
              <a:blipFill>
                <a:blip r:embed="rId6"/>
                <a:stretch>
                  <a:fillRect l="-1402" b="-2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18"/>
              <p:cNvSpPr txBox="1">
                <a:spLocks noChangeArrowheads="1"/>
              </p:cNvSpPr>
              <p:nvPr/>
            </p:nvSpPr>
            <p:spPr bwMode="auto">
              <a:xfrm>
                <a:off x="5940152" y="2506907"/>
                <a:ext cx="3159711" cy="10689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0152" y="2506907"/>
                <a:ext cx="3159711" cy="106894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18"/>
              <p:cNvSpPr txBox="1">
                <a:spLocks noChangeArrowheads="1"/>
              </p:cNvSpPr>
              <p:nvPr/>
            </p:nvSpPr>
            <p:spPr bwMode="auto">
              <a:xfrm>
                <a:off x="1274709" y="3861048"/>
                <a:ext cx="1934632" cy="848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4709" y="3861048"/>
                <a:ext cx="1934632" cy="84843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18"/>
              <p:cNvSpPr txBox="1">
                <a:spLocks noChangeArrowheads="1"/>
              </p:cNvSpPr>
              <p:nvPr/>
            </p:nvSpPr>
            <p:spPr bwMode="auto">
              <a:xfrm>
                <a:off x="3002901" y="3789040"/>
                <a:ext cx="3431580" cy="10689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=−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1"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2901" y="3789040"/>
                <a:ext cx="3431580" cy="106894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8"/>
              <p:cNvSpPr txBox="1">
                <a:spLocks noChangeArrowheads="1"/>
              </p:cNvSpPr>
              <p:nvPr/>
            </p:nvSpPr>
            <p:spPr bwMode="auto">
              <a:xfrm>
                <a:off x="1187624" y="3271568"/>
                <a:ext cx="170617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13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=−10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3271568"/>
                <a:ext cx="1706173" cy="461665"/>
              </a:xfrm>
              <a:prstGeom prst="rect">
                <a:avLst/>
              </a:prstGeom>
              <a:blipFill>
                <a:blip r:embed="rId10"/>
                <a:stretch>
                  <a:fillRect l="-1071" b="-2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2884613" y="2409721"/>
                <a:ext cx="154337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21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=−8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4613" y="2409721"/>
                <a:ext cx="1543371" cy="461665"/>
              </a:xfrm>
              <a:prstGeom prst="rect">
                <a:avLst/>
              </a:prstGeom>
              <a:blipFill>
                <a:blip r:embed="rId11"/>
                <a:stretch>
                  <a:fillRect l="-791" b="-2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2884613" y="2819223"/>
                <a:ext cx="154337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22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=−5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4613" y="2819223"/>
                <a:ext cx="1543371" cy="461665"/>
              </a:xfrm>
              <a:prstGeom prst="rect">
                <a:avLst/>
              </a:prstGeom>
              <a:blipFill>
                <a:blip r:embed="rId12"/>
                <a:stretch>
                  <a:fillRect l="-791" b="-2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8"/>
              <p:cNvSpPr txBox="1">
                <a:spLocks noChangeArrowheads="1"/>
              </p:cNvSpPr>
              <p:nvPr/>
            </p:nvSpPr>
            <p:spPr bwMode="auto">
              <a:xfrm>
                <a:off x="2884613" y="3271568"/>
                <a:ext cx="131414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23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=6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4613" y="3271568"/>
                <a:ext cx="1314142" cy="461665"/>
              </a:xfrm>
              <a:prstGeom prst="rect">
                <a:avLst/>
              </a:prstGeom>
              <a:blipFill>
                <a:blip r:embed="rId13"/>
                <a:stretch>
                  <a:fillRect l="-926" b="-2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8"/>
              <p:cNvSpPr txBox="1">
                <a:spLocks noChangeArrowheads="1"/>
              </p:cNvSpPr>
              <p:nvPr/>
            </p:nvSpPr>
            <p:spPr bwMode="auto">
              <a:xfrm>
                <a:off x="4497993" y="2371407"/>
                <a:ext cx="131414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31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7993" y="2371407"/>
                <a:ext cx="1314142" cy="461665"/>
              </a:xfrm>
              <a:prstGeom prst="rect">
                <a:avLst/>
              </a:prstGeom>
              <a:blipFill>
                <a:blip r:embed="rId14"/>
                <a:stretch>
                  <a:fillRect l="-1395" b="-2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8"/>
              <p:cNvSpPr txBox="1">
                <a:spLocks noChangeArrowheads="1"/>
              </p:cNvSpPr>
              <p:nvPr/>
            </p:nvSpPr>
            <p:spPr bwMode="auto">
              <a:xfrm>
                <a:off x="4497993" y="2819223"/>
                <a:ext cx="148406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32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=11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7993" y="2819223"/>
                <a:ext cx="1484061" cy="461665"/>
              </a:xfrm>
              <a:prstGeom prst="rect">
                <a:avLst/>
              </a:prstGeom>
              <a:blipFill>
                <a:blip r:embed="rId15"/>
                <a:stretch>
                  <a:fillRect l="-1235" b="-2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18"/>
              <p:cNvSpPr txBox="1">
                <a:spLocks noChangeArrowheads="1"/>
              </p:cNvSpPr>
              <p:nvPr/>
            </p:nvSpPr>
            <p:spPr bwMode="auto">
              <a:xfrm>
                <a:off x="4497993" y="3271568"/>
                <a:ext cx="131414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33</m:t>
                          </m:r>
                        </m:sub>
                      </m:sSub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7993" y="3271568"/>
                <a:ext cx="1314142" cy="461665"/>
              </a:xfrm>
              <a:prstGeom prst="rect">
                <a:avLst/>
              </a:prstGeom>
              <a:blipFill>
                <a:blip r:embed="rId16"/>
                <a:stretch>
                  <a:fillRect l="-1395" b="-2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AutoShape 70" descr="新闻纸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573" y="5636002"/>
            <a:ext cx="793017" cy="450850"/>
          </a:xfrm>
          <a:prstGeom prst="actionButtonBlank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CC9900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例</a:t>
            </a:r>
            <a:r>
              <a:rPr kumimoji="1"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kumimoji="1" lang="en-US" altLang="zh-CN" sz="2800" dirty="0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18"/>
              <p:cNvSpPr txBox="1">
                <a:spLocks noChangeArrowheads="1"/>
              </p:cNvSpPr>
              <p:nvPr/>
            </p:nvSpPr>
            <p:spPr bwMode="auto">
              <a:xfrm>
                <a:off x="886654" y="5301208"/>
                <a:ext cx="4420954" cy="10689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sz="240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6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的逆矩阵</a:t>
                </a:r>
              </a:p>
            </p:txBody>
          </p:sp>
        </mc:Choice>
        <mc:Fallback xmlns="">
          <p:sp>
            <p:nvSpPr>
              <p:cNvPr id="4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6654" y="5301208"/>
                <a:ext cx="4420954" cy="1068947"/>
              </a:xfrm>
              <a:prstGeom prst="rect">
                <a:avLst/>
              </a:prstGeom>
              <a:blipFill rotWithShape="1">
                <a:blip r:embed="rId17"/>
                <a:stretch>
                  <a:fillRect l="-20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18"/>
              <p:cNvSpPr txBox="1">
                <a:spLocks noChangeArrowheads="1"/>
              </p:cNvSpPr>
              <p:nvPr/>
            </p:nvSpPr>
            <p:spPr bwMode="auto">
              <a:xfrm>
                <a:off x="5652120" y="5193886"/>
                <a:ext cx="3464090" cy="11154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kumimoji="1" lang="en-US" altLang="zh-CN" sz="2400" i="1" dirty="0">
                                        <a:latin typeface="Cambria Math" panose="02040503050406030204" pitchFamily="18" charset="0"/>
                                        <a:ea typeface="微软雅黑 Light" panose="020B0502040204020203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400" b="0" i="1" dirty="0" smtClean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 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kumimoji="1" lang="en-US" altLang="zh-CN" sz="2400" i="1" dirty="0">
                                        <a:latin typeface="Cambria Math" panose="02040503050406030204" pitchFamily="18" charset="0"/>
                                        <a:ea typeface="微软雅黑 Light" panose="020B0502040204020203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400" b="0" i="1" dirty="0" smtClean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</a:rPr>
                                  <m:t> 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kumimoji="1" lang="en-US" altLang="zh-CN" sz="2400" i="1" dirty="0">
                                        <a:latin typeface="Cambria Math" panose="02040503050406030204" pitchFamily="18" charset="0"/>
                                        <a:ea typeface="微软雅黑 Light" panose="020B0502040204020203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400" b="0" i="1" dirty="0" smtClean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kumimoji="1" lang="en-US" altLang="zh-CN" sz="2400" i="1" dirty="0">
                                        <a:latin typeface="Cambria Math"/>
                                        <a:ea typeface="微软雅黑 Light" panose="020B0502040204020203" pitchFamily="34" charset="-122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2120" y="5193886"/>
                <a:ext cx="3464090" cy="1115434"/>
              </a:xfrm>
              <a:prstGeom prst="rect">
                <a:avLst/>
              </a:prstGeom>
              <a:blipFill>
                <a:blip r:embed="rId18"/>
                <a:stretch>
                  <a:fillRect b="-819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7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36" grpId="0"/>
      <p:bldP spid="37" grpId="0"/>
      <p:bldP spid="40" grpId="0"/>
      <p:bldP spid="41" grpId="0"/>
      <p:bldP spid="42" grpId="0"/>
      <p:bldP spid="21" grpId="0"/>
      <p:bldP spid="22" grpId="0"/>
      <p:bldP spid="23" grpId="0"/>
      <p:bldP spid="24" grpId="0"/>
      <p:bldP spid="25" grpId="0"/>
      <p:bldP spid="31" grpId="0"/>
      <p:bldP spid="45" grpId="0"/>
      <p:bldP spid="47" grpId="0"/>
      <p:bldP spid="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44" name="Text Box 48"/>
          <p:cNvSpPr txBox="1">
            <a:spLocks noChangeArrowheads="1"/>
          </p:cNvSpPr>
          <p:nvPr/>
        </p:nvSpPr>
        <p:spPr bwMode="auto">
          <a:xfrm>
            <a:off x="71438" y="116632"/>
            <a:ext cx="50403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33CC"/>
              </a:buClr>
            </a:pPr>
            <a:r>
              <a:rPr kumimoji="1"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Wingdings"/>
              </a:rPr>
              <a:t> </a:t>
            </a:r>
            <a:r>
              <a:rPr kumimoji="1"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可逆矩阵的行性质与运算：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611560" y="744862"/>
                <a:ext cx="662745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solidFill>
                      <a:srgbClr val="2414FA"/>
                    </a:solidFill>
                    <a:ea typeface="微软雅黑 Light" panose="020B0502040204020203" pitchFamily="34" charset="-122"/>
                  </a:rPr>
                  <a:t>①</a:t>
                </a: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 如果矩阵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也可逆，</a:t>
                </a: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 dirty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i="1" dirty="0">
                                <a:latin typeface="Cambria Math"/>
                                <a:ea typeface="微软雅黑 Light" panose="020B0502040204020203" pitchFamily="34" charset="-122"/>
                              </a:rPr>
                              <m:t>−1</m:t>
                            </m:r>
                          </m:sup>
                        </m:s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744862"/>
                <a:ext cx="6627455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379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8"/>
              <p:cNvSpPr txBox="1">
                <a:spLocks noChangeArrowheads="1"/>
              </p:cNvSpPr>
              <p:nvPr/>
            </p:nvSpPr>
            <p:spPr bwMode="auto">
              <a:xfrm>
                <a:off x="611560" y="1340768"/>
                <a:ext cx="586840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solidFill>
                      <a:srgbClr val="2414FA"/>
                    </a:solidFill>
                    <a:ea typeface="微软雅黑 Light" panose="020B0502040204020203" pitchFamily="34" charset="-122"/>
                  </a:rPr>
                  <a:t>②</a:t>
                </a: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 如果矩阵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可逆，</a:t>
                </a:r>
                <a14:m>
                  <m:oMath xmlns:m="http://schemas.openxmlformats.org/officeDocument/2006/math">
                    <m:r>
                      <a:rPr kumimoji="1" lang="zh-CN" altLang="en-US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𝜆</m:t>
                    </m:r>
                    <m:r>
                      <a:rPr kumimoji="1" lang="zh-CN" altLang="en-US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≠0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kumimoji="1" lang="zh-CN" altLang="en-US" sz="2400" i="1" dirty="0">
                        <a:latin typeface="Cambria Math"/>
                        <a:ea typeface="微软雅黑 Light" panose="020B0502040204020203" pitchFamily="34" charset="-122"/>
                      </a:rPr>
                      <m:t>𝜆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也可逆且</a:t>
                </a:r>
              </a:p>
            </p:txBody>
          </p:sp>
        </mc:Choice>
        <mc:Fallback xmlns="">
          <p:sp>
            <p:nvSpPr>
              <p:cNvPr id="3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340768"/>
                <a:ext cx="5868401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558" t="-10526" r="-623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156176" y="1124744"/>
                <a:ext cx="2208040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zh-CN" altLang="en-US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𝜆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𝜆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1124744"/>
                <a:ext cx="2208040" cy="7861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1907704" y="1764936"/>
                <a:ext cx="1986634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𝜆</m:t>
                      </m:r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f>
                        <m:f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𝜆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1764936"/>
                <a:ext cx="1986634" cy="7861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>
                <a:off x="611560" y="2546648"/>
                <a:ext cx="720755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solidFill>
                      <a:srgbClr val="2414FA"/>
                    </a:solidFill>
                    <a:ea typeface="微软雅黑 Light" panose="020B0502040204020203" pitchFamily="34" charset="-122"/>
                  </a:rPr>
                  <a:t>③</a:t>
                </a: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 如果矩阵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也可逆，</a:t>
                </a: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 dirty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𝑇</m:t>
                            </m:r>
                          </m:sup>
                        </m:s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 dirty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i="1" dirty="0">
                                <a:latin typeface="Cambria Math"/>
                                <a:ea typeface="微软雅黑 Light" panose="020B0502040204020203" pitchFamily="34" charset="-122"/>
                              </a:rPr>
                              <m:t>−</m:t>
                            </m:r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1</m:t>
                            </m:r>
                          </m:sup>
                        </m:s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𝑇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546648"/>
                <a:ext cx="7207551" cy="461665"/>
              </a:xfrm>
              <a:prstGeom prst="rect">
                <a:avLst/>
              </a:prstGeom>
              <a:blipFill>
                <a:blip r:embed="rId6"/>
                <a:stretch>
                  <a:fillRect l="-1268" t="-1066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945205" y="3140968"/>
                <a:ext cx="153856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−</m:t>
                              </m:r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1</m:t>
                              </m:r>
                            </m:sup>
                          </m:s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5205" y="3140968"/>
                <a:ext cx="1538563" cy="461665"/>
              </a:xfrm>
              <a:prstGeom prst="rect">
                <a:avLst/>
              </a:prstGeom>
              <a:blipFill>
                <a:blip r:embed="rId7"/>
                <a:stretch>
                  <a:fillRect l="-794"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8"/>
              <p:cNvSpPr txBox="1">
                <a:spLocks noChangeArrowheads="1"/>
              </p:cNvSpPr>
              <p:nvPr/>
            </p:nvSpPr>
            <p:spPr bwMode="auto">
              <a:xfrm>
                <a:off x="2195736" y="3140967"/>
                <a:ext cx="170187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−</m:t>
                              </m:r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1</m:t>
                              </m:r>
                            </m:sup>
                          </m:s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736" y="3140967"/>
                <a:ext cx="1701876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3661613" y="3140968"/>
                <a:ext cx="120904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1613" y="3140968"/>
                <a:ext cx="1209049" cy="461665"/>
              </a:xfrm>
              <a:prstGeom prst="rect">
                <a:avLst/>
              </a:prstGeom>
              <a:blipFill rotWithShape="1">
                <a:blip r:embed="rId9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18"/>
              <p:cNvSpPr txBox="1">
                <a:spLocks noChangeArrowheads="1"/>
              </p:cNvSpPr>
              <p:nvPr/>
            </p:nvSpPr>
            <p:spPr bwMode="auto">
              <a:xfrm>
                <a:off x="4659095" y="3140966"/>
                <a:ext cx="79515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9095" y="3140966"/>
                <a:ext cx="795154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18"/>
              <p:cNvSpPr txBox="1">
                <a:spLocks noChangeArrowheads="1"/>
              </p:cNvSpPr>
              <p:nvPr/>
            </p:nvSpPr>
            <p:spPr bwMode="auto">
              <a:xfrm>
                <a:off x="611560" y="3717032"/>
                <a:ext cx="850559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solidFill>
                      <a:srgbClr val="2414FA"/>
                    </a:solidFill>
                    <a:ea typeface="微软雅黑 Light" panose="020B0502040204020203" pitchFamily="34" charset="-122"/>
                  </a:rPr>
                  <a:t>④</a:t>
                </a: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 如果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,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为同阶可逆矩阵，则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也可逆，</a:t>
                </a: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(</m:t>
                        </m:r>
                        <m:r>
                          <a:rPr kumimoji="1" lang="en-US" altLang="zh-CN" sz="240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𝐵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717032"/>
                <a:ext cx="8505598" cy="461665"/>
              </a:xfrm>
              <a:prstGeom prst="rect">
                <a:avLst/>
              </a:prstGeom>
              <a:blipFill rotWithShape="1">
                <a:blip r:embed="rId11"/>
                <a:stretch>
                  <a:fillRect l="-1074" t="-1066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18"/>
              <p:cNvSpPr txBox="1">
                <a:spLocks noChangeArrowheads="1"/>
              </p:cNvSpPr>
              <p:nvPr/>
            </p:nvSpPr>
            <p:spPr bwMode="auto">
              <a:xfrm>
                <a:off x="920905" y="4221088"/>
                <a:ext cx="220983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)(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0905" y="4221088"/>
                <a:ext cx="2209836" cy="461665"/>
              </a:xfrm>
              <a:prstGeom prst="rect">
                <a:avLst/>
              </a:prstGeom>
              <a:blipFill rotWithShape="1">
                <a:blip r:embed="rId12"/>
                <a:stretch>
                  <a:fillRect l="-2204"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18"/>
              <p:cNvSpPr txBox="1">
                <a:spLocks noChangeArrowheads="1"/>
              </p:cNvSpPr>
              <p:nvPr/>
            </p:nvSpPr>
            <p:spPr bwMode="auto">
              <a:xfrm>
                <a:off x="2941714" y="4221088"/>
                <a:ext cx="148938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1714" y="4221088"/>
                <a:ext cx="1489382" cy="46166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18"/>
              <p:cNvSpPr txBox="1">
                <a:spLocks noChangeArrowheads="1"/>
              </p:cNvSpPr>
              <p:nvPr/>
            </p:nvSpPr>
            <p:spPr bwMode="auto">
              <a:xfrm>
                <a:off x="4208894" y="4221088"/>
                <a:ext cx="79515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8894" y="4221088"/>
                <a:ext cx="795154" cy="46166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18"/>
              <p:cNvSpPr txBox="1">
                <a:spLocks noChangeArrowheads="1"/>
              </p:cNvSpPr>
              <p:nvPr/>
            </p:nvSpPr>
            <p:spPr bwMode="auto">
              <a:xfrm>
                <a:off x="611560" y="4700612"/>
                <a:ext cx="524592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solidFill>
                      <a:srgbClr val="2414FA"/>
                    </a:solidFill>
                    <a:ea typeface="微软雅黑 Light" panose="020B0502040204020203" pitchFamily="34" charset="-122"/>
                  </a:rPr>
                  <a:t>⑤</a:t>
                </a:r>
                <a:r>
                  <a:rPr kumimoji="1" lang="zh-CN" altLang="en-US" sz="2400" b="0" dirty="0">
                    <a:ea typeface="微软雅黑 Light" panose="020B0502040204020203" pitchFamily="34" charset="-122"/>
                  </a:rPr>
                  <a:t> 如果矩阵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𝐴𝐶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则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𝐵</m:t>
                    </m:r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r>
                      <a:rPr kumimoji="1"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𝐶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4700612"/>
                <a:ext cx="5245923" cy="461665"/>
              </a:xfrm>
              <a:prstGeom prst="rect">
                <a:avLst/>
              </a:prstGeom>
              <a:blipFill rotWithShape="1">
                <a:blip r:embed="rId15"/>
                <a:stretch>
                  <a:fillRect l="-1742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18"/>
              <p:cNvSpPr txBox="1">
                <a:spLocks noChangeArrowheads="1"/>
              </p:cNvSpPr>
              <p:nvPr/>
            </p:nvSpPr>
            <p:spPr bwMode="auto">
              <a:xfrm>
                <a:off x="2163286" y="5204668"/>
                <a:ext cx="147546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𝐴𝐶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3286" y="5204668"/>
                <a:ext cx="1475469" cy="461665"/>
              </a:xfrm>
              <a:prstGeom prst="rect">
                <a:avLst/>
              </a:prstGeom>
              <a:blipFill>
                <a:blip r:embed="rId16"/>
                <a:stretch>
                  <a:fillRect l="-12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18"/>
              <p:cNvSpPr txBox="1">
                <a:spLocks noChangeArrowheads="1"/>
              </p:cNvSpPr>
              <p:nvPr/>
            </p:nvSpPr>
            <p:spPr bwMode="auto">
              <a:xfrm>
                <a:off x="1622798" y="5668130"/>
                <a:ext cx="247279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𝐴𝐶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2798" y="5668130"/>
                <a:ext cx="2472793" cy="461665"/>
              </a:xfrm>
              <a:prstGeom prst="rect">
                <a:avLst/>
              </a:prstGeom>
              <a:blipFill rotWithShape="1">
                <a:blip r:embed="rId17"/>
                <a:stretch>
                  <a:fillRect l="-4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18"/>
              <p:cNvSpPr txBox="1">
                <a:spLocks noChangeArrowheads="1"/>
              </p:cNvSpPr>
              <p:nvPr/>
            </p:nvSpPr>
            <p:spPr bwMode="auto">
              <a:xfrm>
                <a:off x="2267744" y="6203092"/>
                <a:ext cx="108433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𝐶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6203092"/>
                <a:ext cx="1084336" cy="461665"/>
              </a:xfrm>
              <a:prstGeom prst="rect">
                <a:avLst/>
              </a:prstGeom>
              <a:blipFill>
                <a:blip r:embed="rId18"/>
                <a:stretch>
                  <a:fillRect l="-11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6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8"/>
              <p:cNvSpPr txBox="1">
                <a:spLocks noChangeArrowheads="1"/>
              </p:cNvSpPr>
              <p:nvPr/>
            </p:nvSpPr>
            <p:spPr bwMode="auto">
              <a:xfrm>
                <a:off x="611560" y="404664"/>
                <a:ext cx="695042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,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𝐵</m:t>
                    </m:r>
                    <m:r>
                      <a:rPr kumimoji="1" lang="zh-CN" altLang="en-US" sz="2400" i="1" dirty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均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可逆，</a:t>
                </a: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+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不一定可逆，即使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+</m:t>
                    </m:r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𝐵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可逆，</a:t>
                </a:r>
              </a:p>
            </p:txBody>
          </p:sp>
        </mc:Choice>
        <mc:Fallback xmlns="">
          <p:sp>
            <p:nvSpPr>
              <p:cNvPr id="3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404664"/>
                <a:ext cx="6950429" cy="461665"/>
              </a:xfrm>
              <a:prstGeom prst="rect">
                <a:avLst/>
              </a:prstGeom>
              <a:blipFill>
                <a:blip r:embed="rId2"/>
                <a:stretch>
                  <a:fillRect l="-175" t="-10526" r="-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8">
                <a:extLst>
                  <a:ext uri="{FF2B5EF4-FFF2-40B4-BE49-F238E27FC236}">
                    <a16:creationId xmlns:a16="http://schemas.microsoft.com/office/drawing/2014/main" id="{BD1D90E7-A508-79BD-E90C-8EA19019AA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1032311"/>
                <a:ext cx="422570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+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𝐵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zh-CN" altLang="en-US" sz="240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不一定</m:t>
                      </m:r>
                      <m:r>
                        <a:rPr kumimoji="1" lang="zh-CN" altLang="en-US" sz="2400" i="1" dirty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为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" name="Text Box 18">
                <a:extLst>
                  <a:ext uri="{FF2B5EF4-FFF2-40B4-BE49-F238E27FC236}">
                    <a16:creationId xmlns:a16="http://schemas.microsoft.com/office/drawing/2014/main" id="{BD1D90E7-A508-79BD-E90C-8EA19019A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032311"/>
                <a:ext cx="4225709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8">
                <a:extLst>
                  <a:ext uri="{FF2B5EF4-FFF2-40B4-BE49-F238E27FC236}">
                    <a16:creationId xmlns:a16="http://schemas.microsoft.com/office/drawing/2014/main" id="{E0A58523-191E-BD7E-73FB-A223E86823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1585996"/>
                <a:ext cx="1755673" cy="749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" name="Text Box 18">
                <a:extLst>
                  <a:ext uri="{FF2B5EF4-FFF2-40B4-BE49-F238E27FC236}">
                    <a16:creationId xmlns:a16="http://schemas.microsoft.com/office/drawing/2014/main" id="{E0A58523-191E-BD7E-73FB-A223E8682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585996"/>
                <a:ext cx="1755673" cy="749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18">
                <a:extLst>
                  <a:ext uri="{FF2B5EF4-FFF2-40B4-BE49-F238E27FC236}">
                    <a16:creationId xmlns:a16="http://schemas.microsoft.com/office/drawing/2014/main" id="{4E8967DB-B4FB-9C9C-3CB5-09BE5C87E6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1800" y="1585995"/>
                <a:ext cx="2225802" cy="749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−</m:t>
                                </m:r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6" name="Text Box 18">
                <a:extLst>
                  <a:ext uri="{FF2B5EF4-FFF2-40B4-BE49-F238E27FC236}">
                    <a16:creationId xmlns:a16="http://schemas.microsoft.com/office/drawing/2014/main" id="{4E8967DB-B4FB-9C9C-3CB5-09BE5C87E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1585995"/>
                <a:ext cx="2225802" cy="749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8">
                <a:extLst>
                  <a:ext uri="{FF2B5EF4-FFF2-40B4-BE49-F238E27FC236}">
                    <a16:creationId xmlns:a16="http://schemas.microsoft.com/office/drawing/2014/main" id="{71C406A7-60EA-183E-7E06-4673467894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2457173"/>
                <a:ext cx="1755673" cy="749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7" name="Text Box 18">
                <a:extLst>
                  <a:ext uri="{FF2B5EF4-FFF2-40B4-BE49-F238E27FC236}">
                    <a16:creationId xmlns:a16="http://schemas.microsoft.com/office/drawing/2014/main" id="{71C406A7-60EA-183E-7E06-467346789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457173"/>
                <a:ext cx="1755673" cy="7496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8">
                <a:extLst>
                  <a:ext uri="{FF2B5EF4-FFF2-40B4-BE49-F238E27FC236}">
                    <a16:creationId xmlns:a16="http://schemas.microsoft.com/office/drawing/2014/main" id="{704A6E4E-6031-4014-6A75-897D960C4C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9792" y="2457172"/>
                <a:ext cx="1767342" cy="749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9" name="Text Box 18">
                <a:extLst>
                  <a:ext uri="{FF2B5EF4-FFF2-40B4-BE49-F238E27FC236}">
                    <a16:creationId xmlns:a16="http://schemas.microsoft.com/office/drawing/2014/main" id="{704A6E4E-6031-4014-6A75-897D960C4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792" y="2457172"/>
                <a:ext cx="1767342" cy="749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C2FB70EC-2EC5-EED3-3D40-77962DC3E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6915" y="1556792"/>
                <a:ext cx="2331984" cy="749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+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1" name="Text Box 18">
                <a:extLst>
                  <a:ext uri="{FF2B5EF4-FFF2-40B4-BE49-F238E27FC236}">
                    <a16:creationId xmlns:a16="http://schemas.microsoft.com/office/drawing/2014/main" id="{C2FB70EC-2EC5-EED3-3D40-77962DC3E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6915" y="1556792"/>
                <a:ext cx="2331984" cy="7496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8">
                <a:extLst>
                  <a:ext uri="{FF2B5EF4-FFF2-40B4-BE49-F238E27FC236}">
                    <a16:creationId xmlns:a16="http://schemas.microsoft.com/office/drawing/2014/main" id="{A5F75C29-DF7F-D523-993D-1044697265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0072" y="2450092"/>
                <a:ext cx="2331985" cy="749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+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𝐵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2" name="Text Box 18">
                <a:extLst>
                  <a:ext uri="{FF2B5EF4-FFF2-40B4-BE49-F238E27FC236}">
                    <a16:creationId xmlns:a16="http://schemas.microsoft.com/office/drawing/2014/main" id="{A5F75C29-DF7F-D523-993D-104469726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0072" y="2450092"/>
                <a:ext cx="2331985" cy="7496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BD971C7F-FC9B-C3A1-2C9D-D5A95750E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6096" y="3249260"/>
                <a:ext cx="3535776" cy="7948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(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+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𝐵</m:t>
                          </m:r>
                          <m: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/2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1/3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BD971C7F-FC9B-C3A1-2C9D-D5A95750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6096" y="3249260"/>
                <a:ext cx="3535776" cy="7948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1B495965-2DA5-04C6-19D4-D15F154F37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3290613"/>
                <a:ext cx="2055755" cy="7496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1B495965-2DA5-04C6-19D4-D15F154F3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3290613"/>
                <a:ext cx="2055755" cy="7496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3294DAB-AA3E-502A-C1F4-23F94CEC91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438" y="3283339"/>
                <a:ext cx="2394053" cy="770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1</m:t>
                                </m:r>
                                <m:r>
                                  <a:rPr kumimoji="1" lang="en-US" altLang="zh-CN" sz="2400" i="1" dirty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/2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3294DAB-AA3E-502A-C1F4-23F94CEC9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0438" y="3283339"/>
                <a:ext cx="2394053" cy="7704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3EAC2BAF-F2FD-98AB-446E-1AB4D616D3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4113356"/>
                <a:ext cx="3258777" cy="770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</a:rPr>
                                  <m:t>3/2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3EAC2BAF-F2FD-98AB-446E-1AB4D616D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4113356"/>
                <a:ext cx="3258777" cy="77040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8">
                <a:extLst>
                  <a:ext uri="{FF2B5EF4-FFF2-40B4-BE49-F238E27FC236}">
                    <a16:creationId xmlns:a16="http://schemas.microsoft.com/office/drawing/2014/main" id="{0EB1B20D-9860-BEC1-B0EB-85D298233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9975" y="5449615"/>
                <a:ext cx="225266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dirty="0" smtClean="0">
                            <a:solidFill>
                              <a:srgbClr val="2414FA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solidFill>
                              <a:srgbClr val="2414FA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400" i="1" dirty="0">
                                <a:solidFill>
                                  <a:srgbClr val="2414FA"/>
                                </a:solidFill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 dirty="0">
                                <a:solidFill>
                                  <a:srgbClr val="2414FA"/>
                                </a:solidFill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b="0" i="1" dirty="0" smtClean="0">
                                <a:solidFill>
                                  <a:srgbClr val="2414FA"/>
                                </a:solidFill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  <m:t>∗</m:t>
                            </m:r>
                          </m:sup>
                        </m:sSup>
                        <m:r>
                          <a:rPr kumimoji="1" lang="en-US" altLang="zh-CN" sz="2400" b="0" i="1" dirty="0" smtClean="0">
                            <a:solidFill>
                              <a:srgbClr val="2414FA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400" i="1" dirty="0">
                            <a:solidFill>
                              <a:srgbClr val="2414FA"/>
                            </a:solidFill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solidFill>
                          <a:srgbClr val="2414FA"/>
                        </a:solidFill>
                        <a:latin typeface="Cambria Math" panose="02040503050406030204" pitchFamily="18" charset="0"/>
                        <a:ea typeface="微软雅黑 Light" panose="020B0502040204020203" pitchFamily="34" charset="-122"/>
                      </a:rPr>
                      <m:t>=</m:t>
                    </m:r>
                  </m:oMath>
                </a14:m>
                <a:r>
                  <a:rPr kumimoji="1" lang="en-US" altLang="zh-CN" sz="2400" dirty="0">
                    <a:solidFill>
                      <a:srgbClr val="2414FA"/>
                    </a:solidFill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 dirty="0">
                            <a:solidFill>
                              <a:srgbClr val="2414FA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 dirty="0">
                            <a:solidFill>
                              <a:srgbClr val="2414FA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400" i="1" dirty="0">
                                <a:solidFill>
                                  <a:srgbClr val="2414FA"/>
                                </a:solidFill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 dirty="0">
                                <a:solidFill>
                                  <a:srgbClr val="2414FA"/>
                                </a:solidFill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b="0" i="1" dirty="0" smtClean="0">
                                <a:solidFill>
                                  <a:srgbClr val="2414FA"/>
                                </a:solidFill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  <m:t>−1</m:t>
                            </m:r>
                          </m:sup>
                        </m:sSup>
                        <m:r>
                          <a:rPr kumimoji="1" lang="en-US" altLang="zh-CN" sz="2400" i="1" dirty="0">
                            <a:solidFill>
                              <a:srgbClr val="2414FA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sz="2400" b="0" i="1" dirty="0" smtClean="0">
                            <a:solidFill>
                              <a:srgbClr val="2414FA"/>
                            </a:solidFill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</m:oMath>
                </a14:m>
                <a:endParaRPr kumimoji="1"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" name="Text Box 18">
                <a:extLst>
                  <a:ext uri="{FF2B5EF4-FFF2-40B4-BE49-F238E27FC236}">
                    <a16:creationId xmlns:a16="http://schemas.microsoft.com/office/drawing/2014/main" id="{0EB1B20D-9860-BEC1-B0EB-85D298233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9975" y="5449615"/>
                <a:ext cx="2252668" cy="461665"/>
              </a:xfrm>
              <a:prstGeom prst="rect">
                <a:avLst/>
              </a:prstGeom>
              <a:blipFill>
                <a:blip r:embed="rId14"/>
                <a:stretch>
                  <a:fillRect l="-2439"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8">
                <a:extLst>
                  <a:ext uri="{FF2B5EF4-FFF2-40B4-BE49-F238E27FC236}">
                    <a16:creationId xmlns:a16="http://schemas.microsoft.com/office/drawing/2014/main" id="{9683C64F-80BA-87B9-5536-46479BABD4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60" y="5238600"/>
                <a:ext cx="1934632" cy="848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solidFill>
                            <a:srgbClr val="2414FA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i="1" dirty="0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  <m:r>
                            <a:rPr kumimoji="1" lang="en-US" altLang="zh-CN" sz="2400" i="1" dirty="0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0" name="Text Box 18">
                <a:extLst>
                  <a:ext uri="{FF2B5EF4-FFF2-40B4-BE49-F238E27FC236}">
                    <a16:creationId xmlns:a16="http://schemas.microsoft.com/office/drawing/2014/main" id="{9683C64F-80BA-87B9-5536-46479BABD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5238600"/>
                <a:ext cx="1934632" cy="8484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527D29AB-9E7E-2FE6-39EC-E8B7AAD0EF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1800" y="5431985"/>
                <a:ext cx="188256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solidFill>
                            <a:srgbClr val="2414FA"/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sSup>
                        <m:sSupPr>
                          <m:ctrlP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527D29AB-9E7E-2FE6-39EC-E8B7AAD0E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5431985"/>
                <a:ext cx="1882567" cy="461665"/>
              </a:xfrm>
              <a:prstGeom prst="rect">
                <a:avLst/>
              </a:prstGeom>
              <a:blipFill>
                <a:blip r:embed="rId16"/>
                <a:stretch>
                  <a:fillRect l="-9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04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" grpId="0"/>
      <p:bldP spid="5" grpId="0"/>
      <p:bldP spid="6" grpId="0"/>
      <p:bldP spid="7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3" grpId="0"/>
      <p:bldP spid="10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8"/>
              <p:cNvSpPr txBox="1">
                <a:spLocks noChangeArrowheads="1"/>
              </p:cNvSpPr>
              <p:nvPr/>
            </p:nvSpPr>
            <p:spPr bwMode="auto">
              <a:xfrm>
                <a:off x="2771800" y="3085639"/>
                <a:ext cx="228633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④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3085639"/>
                <a:ext cx="2286332" cy="461665"/>
              </a:xfrm>
              <a:prstGeom prst="rect">
                <a:avLst/>
              </a:prstGeom>
              <a:blipFill>
                <a:blip r:embed="rId2"/>
                <a:stretch>
                  <a:fillRect l="-4267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8"/>
              <p:cNvSpPr txBox="1">
                <a:spLocks noChangeArrowheads="1"/>
              </p:cNvSpPr>
              <p:nvPr/>
            </p:nvSpPr>
            <p:spPr bwMode="auto">
              <a:xfrm>
                <a:off x="2771800" y="1052736"/>
                <a:ext cx="190205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en-US" altLang="zh-CN" sz="2400" b="0" dirty="0">
                    <a:latin typeface="Abel" panose="020F0502020204030204" pitchFamily="2" charset="0"/>
                    <a:ea typeface="微软雅黑 Light" panose="020B0502040204020203" pitchFamily="34" charset="-122"/>
                  </a:rPr>
                  <a:t>①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=|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1052736"/>
                <a:ext cx="1902059" cy="461665"/>
              </a:xfrm>
              <a:prstGeom prst="rect">
                <a:avLst/>
              </a:prstGeom>
              <a:blipFill>
                <a:blip r:embed="rId3"/>
                <a:stretch>
                  <a:fillRect l="-5128" t="-12000" r="-1603" b="-29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8"/>
              <p:cNvSpPr txBox="1">
                <a:spLocks noChangeArrowheads="1"/>
              </p:cNvSpPr>
              <p:nvPr/>
            </p:nvSpPr>
            <p:spPr bwMode="auto">
              <a:xfrm>
                <a:off x="2771800" y="2382278"/>
                <a:ext cx="204427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③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2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2382278"/>
                <a:ext cx="2044278" cy="461665"/>
              </a:xfrm>
              <a:prstGeom prst="rect">
                <a:avLst/>
              </a:prstGeom>
              <a:blipFill>
                <a:blip r:embed="rId4"/>
                <a:stretch>
                  <a:fillRect l="-4776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>
                <a:off x="2771800" y="4407495"/>
                <a:ext cx="233666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⑥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𝑛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4407495"/>
                <a:ext cx="2336665" cy="461665"/>
              </a:xfrm>
              <a:prstGeom prst="rect">
                <a:avLst/>
              </a:prstGeom>
              <a:blipFill>
                <a:blip r:embed="rId5"/>
                <a:stretch>
                  <a:fillRect l="-4178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2771800" y="5008054"/>
                <a:ext cx="2614305" cy="509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⑦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</m:d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</m:d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𝑛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+1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5008054"/>
                <a:ext cx="2614305" cy="509178"/>
              </a:xfrm>
              <a:prstGeom prst="rect">
                <a:avLst/>
              </a:prstGeom>
              <a:blipFill>
                <a:blip r:embed="rId6"/>
                <a:stretch>
                  <a:fillRect l="-3730" t="-4819" b="-2289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8"/>
              <p:cNvSpPr txBox="1">
                <a:spLocks noChangeArrowheads="1"/>
              </p:cNvSpPr>
              <p:nvPr/>
            </p:nvSpPr>
            <p:spPr bwMode="auto">
              <a:xfrm>
                <a:off x="2771800" y="1700654"/>
                <a:ext cx="226741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en-US" altLang="zh-CN" sz="2400" b="0" dirty="0">
                    <a:ea typeface="微软雅黑 Light" panose="020B0502040204020203" pitchFamily="34" charset="-122"/>
                  </a:rPr>
                  <a:t>②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2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</m:d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2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𝑛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1700654"/>
                <a:ext cx="2267416" cy="461665"/>
              </a:xfrm>
              <a:prstGeom prst="rect">
                <a:avLst/>
              </a:prstGeom>
              <a:blipFill>
                <a:blip r:embed="rId7"/>
                <a:stretch>
                  <a:fillRect l="-4301" t="-10526" r="-1344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8">
                <a:extLst>
                  <a:ext uri="{FF2B5EF4-FFF2-40B4-BE49-F238E27FC236}">
                    <a16:creationId xmlns:a16="http://schemas.microsoft.com/office/drawing/2014/main" id="{39FA4985-3908-BC96-0773-33E0378FA8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1800" y="3717032"/>
                <a:ext cx="2326791" cy="509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en-US" altLang="zh-CN" sz="2400" dirty="0">
                    <a:ea typeface="微软雅黑 Light" panose="020B0502040204020203" pitchFamily="34" charset="-122"/>
                  </a:rPr>
                  <a:t>⑤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</m:d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  <m:t>𝐸</m:t>
                        </m:r>
                      </m:e>
                    </m:d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|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𝑛</m:t>
                        </m:r>
                      </m:sup>
                    </m:sSup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" name="Text Box 18">
                <a:extLst>
                  <a:ext uri="{FF2B5EF4-FFF2-40B4-BE49-F238E27FC236}">
                    <a16:creationId xmlns:a16="http://schemas.microsoft.com/office/drawing/2014/main" id="{39FA4985-3908-BC96-0773-33E0378FA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3717032"/>
                <a:ext cx="2326791" cy="509178"/>
              </a:xfrm>
              <a:prstGeom prst="rect">
                <a:avLst/>
              </a:prstGeom>
              <a:blipFill>
                <a:blip r:embed="rId8"/>
                <a:stretch>
                  <a:fillRect l="-4199" t="-4819" b="-2289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18">
            <a:extLst>
              <a:ext uri="{FF2B5EF4-FFF2-40B4-BE49-F238E27FC236}">
                <a16:creationId xmlns:a16="http://schemas.microsoft.com/office/drawing/2014/main" id="{121B30F0-A4CC-7B94-19A7-268ECA537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476672"/>
            <a:ext cx="870751" cy="461665"/>
          </a:xfrm>
          <a:prstGeom prst="rect">
            <a:avLst/>
          </a:prstGeom>
          <a:noFill/>
          <a:ln w="12700" cap="sq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kumimoji="1" lang="zh-CN" altLang="en-US" sz="2400" b="0" dirty="0">
                <a:latin typeface="Abel" panose="020F0502020204030204" pitchFamily="2" charset="0"/>
                <a:ea typeface="微软雅黑 Light" panose="020B0502040204020203" pitchFamily="34" charset="-122"/>
              </a:rPr>
              <a:t>花 絮</a:t>
            </a:r>
            <a:endParaRPr kumimoji="1"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809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2" grpId="0"/>
      <p:bldP spid="33" grpId="0"/>
      <p:bldP spid="34" grpId="0"/>
      <p:bldP spid="35" grpId="0"/>
      <p:bldP spid="36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61" name="Text Box 9"/>
          <p:cNvSpPr txBox="1">
            <a:spLocks noChangeArrowheads="1"/>
          </p:cNvSpPr>
          <p:nvPr/>
        </p:nvSpPr>
        <p:spPr bwMode="auto">
          <a:xfrm>
            <a:off x="1257300" y="1340768"/>
            <a:ext cx="8870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法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①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9571" name="Rectangle 19"/>
              <p:cNvSpPr>
                <a:spLocks noChangeArrowheads="1"/>
              </p:cNvSpPr>
              <p:nvPr/>
            </p:nvSpPr>
            <p:spPr bwMode="auto">
              <a:xfrm>
                <a:off x="582082" y="516487"/>
                <a:ext cx="312447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例</a:t>
                </a:r>
                <a:r>
                  <a:rPr lang="en-US" altLang="zh-CN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5  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为</a:t>
                </a:r>
                <a:r>
                  <a:rPr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3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阶矩阵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19571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082" y="516487"/>
                <a:ext cx="3124470" cy="461963"/>
              </a:xfrm>
              <a:prstGeom prst="rect">
                <a:avLst/>
              </a:prstGeom>
              <a:blipFill>
                <a:blip r:embed="rId2"/>
                <a:stretch>
                  <a:fillRect l="-2924" t="-11842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9573" name="Rectangle 21"/>
          <p:cNvSpPr>
            <a:spLocks noChangeArrowheads="1"/>
          </p:cNvSpPr>
          <p:nvPr/>
        </p:nvSpPr>
        <p:spPr bwMode="auto">
          <a:xfrm>
            <a:off x="582082" y="1340769"/>
            <a:ext cx="5661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</a:t>
            </a:r>
            <a:r>
              <a:rPr lang="en-US" altLang="zh-CN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endParaRPr lang="zh-CN" altLang="en-US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8"/>
              <p:cNvSpPr txBox="1">
                <a:spLocks noChangeArrowheads="1"/>
              </p:cNvSpPr>
              <p:nvPr/>
            </p:nvSpPr>
            <p:spPr bwMode="auto">
              <a:xfrm>
                <a:off x="3383922" y="268932"/>
                <a:ext cx="1240276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3922" y="268932"/>
                <a:ext cx="1240276" cy="783804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8"/>
              <p:cNvSpPr txBox="1">
                <a:spLocks noChangeArrowheads="1"/>
              </p:cNvSpPr>
              <p:nvPr/>
            </p:nvSpPr>
            <p:spPr bwMode="auto">
              <a:xfrm>
                <a:off x="4788024" y="516636"/>
                <a:ext cx="277614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求：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2</m:t>
                            </m:r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−5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8024" y="516636"/>
                <a:ext cx="2776145" cy="461665"/>
              </a:xfrm>
              <a:prstGeom prst="rect">
                <a:avLst/>
              </a:prstGeom>
              <a:blipFill rotWithShape="1">
                <a:blip r:embed="rId21"/>
                <a:stretch>
                  <a:fillRect l="-3289" t="-10667" r="-87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3857066" y="1147381"/>
                <a:ext cx="1934632" cy="848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7066" y="1147381"/>
                <a:ext cx="1934632" cy="848437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8"/>
              <p:cNvSpPr txBox="1">
                <a:spLocks noChangeArrowheads="1"/>
              </p:cNvSpPr>
              <p:nvPr/>
            </p:nvSpPr>
            <p:spPr bwMode="auto">
              <a:xfrm>
                <a:off x="5585258" y="1340766"/>
                <a:ext cx="107497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5258" y="1340766"/>
                <a:ext cx="1074974" cy="461665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2523194" y="1124744"/>
                <a:ext cx="1240276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3194" y="1124744"/>
                <a:ext cx="1240276" cy="783804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1148263" y="2492896"/>
                <a:ext cx="225196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−5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8263" y="2492896"/>
                <a:ext cx="2251963" cy="461665"/>
              </a:xfrm>
              <a:prstGeom prst="rect">
                <a:avLst/>
              </a:prstGeom>
              <a:blipFill rotWithShape="1">
                <a:blip r:embed="rId25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8"/>
              <p:cNvSpPr txBox="1">
                <a:spLocks noChangeArrowheads="1"/>
              </p:cNvSpPr>
              <p:nvPr/>
            </p:nvSpPr>
            <p:spPr bwMode="auto">
              <a:xfrm>
                <a:off x="3206003" y="2331826"/>
                <a:ext cx="2407775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=|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−5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6003" y="2331826"/>
                <a:ext cx="2407775" cy="783804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8"/>
              <p:cNvSpPr txBox="1">
                <a:spLocks noChangeArrowheads="1"/>
              </p:cNvSpPr>
              <p:nvPr/>
            </p:nvSpPr>
            <p:spPr bwMode="auto">
              <a:xfrm>
                <a:off x="5606354" y="2492896"/>
                <a:ext cx="195091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=|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−5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6354" y="2492896"/>
                <a:ext cx="1950919" cy="461665"/>
              </a:xfrm>
              <a:prstGeom prst="rect">
                <a:avLst/>
              </a:prstGeom>
              <a:blipFill rotWithShape="1">
                <a:blip r:embed="rId27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1203102" y="3356992"/>
                <a:ext cx="14990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−4</m:t>
                          </m:r>
                          <m:sSup>
                            <m:sSup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i="1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kumimoji="1" lang="en-US" altLang="zh-CN" sz="2400" i="1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3102" y="3356992"/>
                <a:ext cx="1499000" cy="461665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8"/>
              <p:cNvSpPr txBox="1">
                <a:spLocks noChangeArrowheads="1"/>
              </p:cNvSpPr>
              <p:nvPr/>
            </p:nvSpPr>
            <p:spPr bwMode="auto">
              <a:xfrm>
                <a:off x="2403461" y="3356991"/>
                <a:ext cx="189885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−4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3461" y="3356991"/>
                <a:ext cx="1898853" cy="461665"/>
              </a:xfrm>
              <a:prstGeom prst="rect">
                <a:avLst/>
              </a:prstGeom>
              <a:blipFill rotWithShape="1">
                <a:blip r:embed="rId29"/>
                <a:stretch>
                  <a:fillRect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8"/>
              <p:cNvSpPr txBox="1">
                <a:spLocks noChangeArrowheads="1"/>
              </p:cNvSpPr>
              <p:nvPr/>
            </p:nvSpPr>
            <p:spPr bwMode="auto">
              <a:xfrm>
                <a:off x="4067944" y="3356990"/>
                <a:ext cx="192495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−4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400" i="1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7944" y="3356990"/>
                <a:ext cx="1924950" cy="461665"/>
              </a:xfrm>
              <a:prstGeom prst="rect">
                <a:avLst/>
              </a:prstGeom>
              <a:blipFill rotWithShape="1">
                <a:blip r:embed="rId30"/>
                <a:stretch>
                  <a:fillRect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8"/>
              <p:cNvSpPr txBox="1">
                <a:spLocks noChangeArrowheads="1"/>
              </p:cNvSpPr>
              <p:nvPr/>
            </p:nvSpPr>
            <p:spPr bwMode="auto">
              <a:xfrm>
                <a:off x="5868144" y="3195920"/>
                <a:ext cx="1846916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−4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240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8144" y="3195920"/>
                <a:ext cx="1846916" cy="783804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7667916" y="3356992"/>
                <a:ext cx="11598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smtClean="0">
                          <a:latin typeface="Cambria Math"/>
                          <a:ea typeface="微软雅黑 Light" panose="020B0502040204020203" pitchFamily="34" charset="-122"/>
                        </a:rPr>
                        <m:t>−</m:t>
                      </m:r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16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67916" y="3356992"/>
                <a:ext cx="1159805" cy="461665"/>
              </a:xfrm>
              <a:prstGeom prst="rect">
                <a:avLst/>
              </a:prstGeom>
              <a:blipFill rotWithShape="1">
                <a:blip r:embed="rId3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05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61" name="Text Box 9"/>
          <p:cNvSpPr txBox="1">
            <a:spLocks noChangeArrowheads="1"/>
          </p:cNvSpPr>
          <p:nvPr/>
        </p:nvSpPr>
        <p:spPr bwMode="auto">
          <a:xfrm>
            <a:off x="1257300" y="1340768"/>
            <a:ext cx="8870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法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②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</a:p>
        </p:txBody>
      </p:sp>
      <p:sp>
        <p:nvSpPr>
          <p:cNvPr id="919573" name="Rectangle 21"/>
          <p:cNvSpPr>
            <a:spLocks noChangeArrowheads="1"/>
          </p:cNvSpPr>
          <p:nvPr/>
        </p:nvSpPr>
        <p:spPr bwMode="auto">
          <a:xfrm>
            <a:off x="582082" y="1340769"/>
            <a:ext cx="5661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</a:t>
            </a:r>
            <a:r>
              <a:rPr lang="en-US" altLang="zh-CN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endParaRPr lang="zh-CN" altLang="en-US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4077528" y="1147381"/>
                <a:ext cx="1934632" cy="848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|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7528" y="1147381"/>
                <a:ext cx="1934632" cy="84843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2523194" y="1124744"/>
                <a:ext cx="1240276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3194" y="1124744"/>
                <a:ext cx="1240276" cy="78380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1148263" y="2492896"/>
                <a:ext cx="225196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−5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8263" y="2492896"/>
                <a:ext cx="2251963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8"/>
              <p:cNvSpPr txBox="1">
                <a:spLocks noChangeArrowheads="1"/>
              </p:cNvSpPr>
              <p:nvPr/>
            </p:nvSpPr>
            <p:spPr bwMode="auto">
              <a:xfrm>
                <a:off x="3206003" y="2331826"/>
                <a:ext cx="2643416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=|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5</m:t>
                          </m:r>
                        </m:num>
                        <m:den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6003" y="2331826"/>
                <a:ext cx="2643416" cy="78380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8"/>
              <p:cNvSpPr txBox="1">
                <a:spLocks noChangeArrowheads="1"/>
              </p:cNvSpPr>
              <p:nvPr/>
            </p:nvSpPr>
            <p:spPr bwMode="auto">
              <a:xfrm>
                <a:off x="5606354" y="2492896"/>
                <a:ext cx="182094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=|−2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6354" y="2492896"/>
                <a:ext cx="1820947" cy="461665"/>
              </a:xfrm>
              <a:prstGeom prst="rect">
                <a:avLst/>
              </a:prstGeom>
              <a:blipFill rotWithShape="1">
                <a:blip r:embed="rId6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8"/>
              <p:cNvSpPr txBox="1">
                <a:spLocks noChangeArrowheads="1"/>
              </p:cNvSpPr>
              <p:nvPr/>
            </p:nvSpPr>
            <p:spPr bwMode="auto">
              <a:xfrm>
                <a:off x="1293359" y="3367181"/>
                <a:ext cx="208319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3359" y="3367181"/>
                <a:ext cx="2083199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8"/>
              <p:cNvSpPr txBox="1">
                <a:spLocks noChangeArrowheads="1"/>
              </p:cNvSpPr>
              <p:nvPr/>
            </p:nvSpPr>
            <p:spPr bwMode="auto">
              <a:xfrm>
                <a:off x="3124591" y="3367181"/>
                <a:ext cx="208845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400" i="1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591" y="3367181"/>
                <a:ext cx="2088457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8"/>
              <p:cNvSpPr txBox="1">
                <a:spLocks noChangeArrowheads="1"/>
              </p:cNvSpPr>
              <p:nvPr/>
            </p:nvSpPr>
            <p:spPr bwMode="auto">
              <a:xfrm>
                <a:off x="5068807" y="3367181"/>
                <a:ext cx="233262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24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−2)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8807" y="3367181"/>
                <a:ext cx="2332626" cy="461665"/>
              </a:xfrm>
              <a:prstGeom prst="rect">
                <a:avLst/>
              </a:prstGeom>
              <a:blipFill rotWithShape="1">
                <a:blip r:embed="rId9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7308304" y="3367181"/>
                <a:ext cx="11598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smtClean="0">
                          <a:latin typeface="Cambria Math"/>
                          <a:ea typeface="微软雅黑 Light" panose="020B0502040204020203" pitchFamily="34" charset="-122"/>
                        </a:rPr>
                        <m:t>−</m:t>
                      </m:r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16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8304" y="3367181"/>
                <a:ext cx="1159805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8"/>
              <p:cNvSpPr txBox="1">
                <a:spLocks noChangeArrowheads="1"/>
              </p:cNvSpPr>
              <p:nvPr/>
            </p:nvSpPr>
            <p:spPr bwMode="auto">
              <a:xfrm>
                <a:off x="6313186" y="1124744"/>
                <a:ext cx="1710405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3186" y="1124744"/>
                <a:ext cx="1710405" cy="78380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9"/>
              <p:cNvSpPr>
                <a:spLocks noChangeArrowheads="1"/>
              </p:cNvSpPr>
              <p:nvPr/>
            </p:nvSpPr>
            <p:spPr bwMode="auto">
              <a:xfrm>
                <a:off x="582082" y="516487"/>
                <a:ext cx="312447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例</a:t>
                </a:r>
                <a:r>
                  <a:rPr lang="en-US" altLang="zh-CN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5  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为</a:t>
                </a:r>
                <a:r>
                  <a:rPr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3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阶矩阵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4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082" y="516487"/>
                <a:ext cx="3124470" cy="461963"/>
              </a:xfrm>
              <a:prstGeom prst="rect">
                <a:avLst/>
              </a:prstGeom>
              <a:blipFill>
                <a:blip r:embed="rId2"/>
                <a:stretch>
                  <a:fillRect l="-2924" t="-11842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/>
              <p:cNvSpPr txBox="1">
                <a:spLocks noChangeArrowheads="1"/>
              </p:cNvSpPr>
              <p:nvPr/>
            </p:nvSpPr>
            <p:spPr bwMode="auto">
              <a:xfrm>
                <a:off x="3383922" y="268932"/>
                <a:ext cx="1240276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3922" y="268932"/>
                <a:ext cx="1240276" cy="783804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8"/>
              <p:cNvSpPr txBox="1">
                <a:spLocks noChangeArrowheads="1"/>
              </p:cNvSpPr>
              <p:nvPr/>
            </p:nvSpPr>
            <p:spPr bwMode="auto">
              <a:xfrm>
                <a:off x="4788024" y="516636"/>
                <a:ext cx="277614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求：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2</m:t>
                            </m:r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−5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8024" y="516636"/>
                <a:ext cx="2776145" cy="461665"/>
              </a:xfrm>
              <a:prstGeom prst="rect">
                <a:avLst/>
              </a:prstGeom>
              <a:blipFill rotWithShape="1">
                <a:blip r:embed="rId14"/>
                <a:stretch>
                  <a:fillRect l="-3289" t="-10667" r="-87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6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61" name="Text Box 9"/>
          <p:cNvSpPr txBox="1">
            <a:spLocks noChangeArrowheads="1"/>
          </p:cNvSpPr>
          <p:nvPr/>
        </p:nvSpPr>
        <p:spPr bwMode="auto">
          <a:xfrm>
            <a:off x="1257300" y="1340768"/>
            <a:ext cx="8870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法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③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</a:p>
        </p:txBody>
      </p:sp>
      <p:sp>
        <p:nvSpPr>
          <p:cNvPr id="919573" name="Rectangle 21"/>
          <p:cNvSpPr>
            <a:spLocks noChangeArrowheads="1"/>
          </p:cNvSpPr>
          <p:nvPr/>
        </p:nvSpPr>
        <p:spPr bwMode="auto">
          <a:xfrm>
            <a:off x="582082" y="1340769"/>
            <a:ext cx="5661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</a:t>
            </a:r>
            <a:r>
              <a:rPr lang="en-US" altLang="zh-CN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</a:t>
            </a:r>
            <a:endParaRPr lang="zh-CN" altLang="en-US">
              <a:solidFill>
                <a:srgbClr val="2414F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1148263" y="2492896"/>
                <a:ext cx="264610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||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−5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8263" y="2492896"/>
                <a:ext cx="2646109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8"/>
              <p:cNvSpPr txBox="1">
                <a:spLocks noChangeArrowheads="1"/>
              </p:cNvSpPr>
              <p:nvPr/>
            </p:nvSpPr>
            <p:spPr bwMode="auto">
              <a:xfrm>
                <a:off x="3635896" y="2492895"/>
                <a:ext cx="296382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−5</m:t>
                      </m:r>
                      <m:r>
                        <a:rPr kumimoji="1"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/>
                              <a:ea typeface="微软雅黑 Light" panose="020B0502040204020203" pitchFamily="34" charset="-122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1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896" y="2492895"/>
                <a:ext cx="2963825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8"/>
              <p:cNvSpPr txBox="1">
                <a:spLocks noChangeArrowheads="1"/>
              </p:cNvSpPr>
              <p:nvPr/>
            </p:nvSpPr>
            <p:spPr bwMode="auto">
              <a:xfrm>
                <a:off x="1324026" y="3212976"/>
                <a:ext cx="2348785" cy="7961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−5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4026" y="3212976"/>
                <a:ext cx="2348785" cy="7961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8"/>
              <p:cNvSpPr txBox="1">
                <a:spLocks noChangeArrowheads="1"/>
              </p:cNvSpPr>
              <p:nvPr/>
            </p:nvSpPr>
            <p:spPr bwMode="auto">
              <a:xfrm>
                <a:off x="3672811" y="3212975"/>
                <a:ext cx="2010679" cy="9140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5</m:t>
                              </m:r>
                            </m:num>
                            <m:den>
                              <m:r>
                                <a:rPr kumimoji="1" lang="en-US" altLang="zh-CN" sz="2400" i="1" dirty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2811" y="3212975"/>
                <a:ext cx="2010679" cy="91409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18"/>
              <p:cNvSpPr txBox="1">
                <a:spLocks noChangeArrowheads="1"/>
              </p:cNvSpPr>
              <p:nvPr/>
            </p:nvSpPr>
            <p:spPr bwMode="auto">
              <a:xfrm>
                <a:off x="5481547" y="3471391"/>
                <a:ext cx="138909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40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1547" y="3471391"/>
                <a:ext cx="1389098" cy="4616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6625100" y="3471390"/>
                <a:ext cx="138897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5100" y="3471390"/>
                <a:ext cx="1388970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18"/>
              <p:cNvSpPr txBox="1">
                <a:spLocks noChangeArrowheads="1"/>
              </p:cNvSpPr>
              <p:nvPr/>
            </p:nvSpPr>
            <p:spPr bwMode="auto">
              <a:xfrm>
                <a:off x="683568" y="4293096"/>
                <a:ext cx="278948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 dirty="0">
                          <a:latin typeface="Cambria Math"/>
                          <a:ea typeface="微软雅黑 Light" panose="020B0502040204020203" pitchFamily="34" charset="-122"/>
                        </a:rPr>
                        <m:t>原</m:t>
                      </m:r>
                      <m:r>
                        <a:rPr kumimoji="1" lang="zh-CN" altLang="en-US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式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400" i="1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smtClean="0">
                                  <a:latin typeface="Cambria Math"/>
                                  <a:ea typeface="微软雅黑 Light" panose="020B0502040204020203" pitchFamily="34" charset="-12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4293096"/>
                <a:ext cx="2789482" cy="461665"/>
              </a:xfrm>
              <a:prstGeom prst="rect">
                <a:avLst/>
              </a:prstGeom>
              <a:blipFill rotWithShape="1">
                <a:blip r:embed="rId9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3371304" y="4293096"/>
                <a:ext cx="233262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24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kumimoji="1"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−2)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1304" y="4293096"/>
                <a:ext cx="2332626" cy="461665"/>
              </a:xfrm>
              <a:prstGeom prst="rect">
                <a:avLst/>
              </a:prstGeom>
              <a:blipFill rotWithShape="1">
                <a:blip r:embed="rId10"/>
                <a:stretch>
                  <a:fillRect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18"/>
              <p:cNvSpPr txBox="1">
                <a:spLocks noChangeArrowheads="1"/>
              </p:cNvSpPr>
              <p:nvPr/>
            </p:nvSpPr>
            <p:spPr bwMode="auto">
              <a:xfrm>
                <a:off x="5610801" y="4293096"/>
                <a:ext cx="115980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kumimoji="1" lang="en-US" altLang="zh-CN" sz="2400" i="1" smtClean="0">
                          <a:latin typeface="Cambria Math"/>
                          <a:ea typeface="微软雅黑 Light" panose="020B0502040204020203" pitchFamily="34" charset="-122"/>
                        </a:rPr>
                        <m:t>−</m:t>
                      </m:r>
                      <m:r>
                        <a:rPr kumimoji="1"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16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0801" y="4293096"/>
                <a:ext cx="1159805" cy="46166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9"/>
              <p:cNvSpPr>
                <a:spLocks noChangeArrowheads="1"/>
              </p:cNvSpPr>
              <p:nvPr/>
            </p:nvSpPr>
            <p:spPr bwMode="auto">
              <a:xfrm>
                <a:off x="582082" y="516487"/>
                <a:ext cx="312447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例</a:t>
                </a:r>
                <a:r>
                  <a:rPr lang="en-US" altLang="zh-CN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5  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为</a:t>
                </a:r>
                <a:r>
                  <a:rPr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3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阶矩阵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4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082" y="516487"/>
                <a:ext cx="3124470" cy="461963"/>
              </a:xfrm>
              <a:prstGeom prst="rect">
                <a:avLst/>
              </a:prstGeom>
              <a:blipFill>
                <a:blip r:embed="rId12"/>
                <a:stretch>
                  <a:fillRect l="-2924" t="-11842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/>
              <p:cNvSpPr txBox="1">
                <a:spLocks noChangeArrowheads="1"/>
              </p:cNvSpPr>
              <p:nvPr/>
            </p:nvSpPr>
            <p:spPr bwMode="auto">
              <a:xfrm>
                <a:off x="3383922" y="268932"/>
                <a:ext cx="1240276" cy="7838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kumimoji="1"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|=</m:t>
                      </m:r>
                      <m:f>
                        <m:f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5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3922" y="268932"/>
                <a:ext cx="1240276" cy="783804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8"/>
              <p:cNvSpPr txBox="1">
                <a:spLocks noChangeArrowheads="1"/>
              </p:cNvSpPr>
              <p:nvPr/>
            </p:nvSpPr>
            <p:spPr bwMode="auto">
              <a:xfrm>
                <a:off x="4788024" y="516636"/>
                <a:ext cx="277614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Clr>
                    <a:schemeClr val="accent2"/>
                  </a:buClr>
                </a:pPr>
                <a:r>
                  <a:rPr kumimoji="1" lang="zh-CN" altLang="en-US" sz="2400" b="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求：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2</m:t>
                            </m:r>
                            <m:r>
                              <a:rPr kumimoji="1" lang="en-US" altLang="zh-CN" sz="2400" b="0" i="1" dirty="0" smtClean="0">
                                <a:latin typeface="Cambria Math"/>
                                <a:ea typeface="微软雅黑 Light" panose="020B0502040204020203" pitchFamily="34" charset="-122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kumimoji="1"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−5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sz="2400" i="1">
                            <a:latin typeface="Cambria Math"/>
                            <a:ea typeface="微软雅黑 Light" panose="020B0502040204020203" pitchFamily="34" charset="-122"/>
                          </a:rPr>
                          <m:t>∗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/>
                        <a:ea typeface="微软雅黑 Light" panose="020B0502040204020203" pitchFamily="34" charset="-122"/>
                      </a:rPr>
                      <m:t>|</m:t>
                    </m:r>
                  </m:oMath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8024" y="516636"/>
                <a:ext cx="2776145" cy="461665"/>
              </a:xfrm>
              <a:prstGeom prst="rect">
                <a:avLst/>
              </a:prstGeom>
              <a:blipFill rotWithShape="1">
                <a:blip r:embed="rId14"/>
                <a:stretch>
                  <a:fillRect l="-3289" t="-10667" r="-87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6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49" name="Text Box 29"/>
          <p:cNvSpPr txBox="1">
            <a:spLocks noChangeArrowheads="1"/>
          </p:cNvSpPr>
          <p:nvPr/>
        </p:nvSpPr>
        <p:spPr bwMode="auto">
          <a:xfrm>
            <a:off x="467545" y="270670"/>
            <a:ext cx="38164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33CC"/>
              </a:buClr>
              <a:buFont typeface="Wingdings" pitchFamily="2" charset="2"/>
              <a:buNone/>
            </a:pPr>
            <a:r>
              <a:rPr kumimoji="1"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方程组的矩阵表示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★★★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79512" y="739577"/>
                <a:ext cx="5256584" cy="1279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 smtClean="0">
                                  <a:latin typeface="Cambria Math"/>
                                  <a:ea typeface="Cambria Math"/>
                                </a:rPr>
                                <m:t>⋯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=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  <a:ea typeface="Cambria Math"/>
                                </a:rPr>
                                <m:t>⋯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zh-CN" altLang="en-US" sz="2000" i="1" smtClean="0">
                                  <a:latin typeface="Cambria Math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/>
                                  <a:ea typeface="Cambria Math"/>
                                </a:rPr>
                                <m:t>⋯</m:t>
                              </m:r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739577"/>
                <a:ext cx="5256584" cy="127900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975956" y="867874"/>
                <a:ext cx="2016224" cy="90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 smtClean="0">
                                    <a:latin typeface="Cambria Math"/>
                                    <a:ea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 smtClean="0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956" y="867874"/>
                <a:ext cx="2016224" cy="9069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04148" y="867874"/>
                <a:ext cx="720080" cy="90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 smtClean="0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148" y="867874"/>
                <a:ext cx="720080" cy="9069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233044" y="751226"/>
                <a:ext cx="993304" cy="1113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    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044" y="751226"/>
                <a:ext cx="993304" cy="11137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11560" y="2420888"/>
                <a:ext cx="2448272" cy="90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𝐴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 smtClean="0">
                                    <a:latin typeface="Cambria Math"/>
                                    <a:ea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 smtClean="0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420888"/>
                <a:ext cx="2448272" cy="90698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563888" y="2410904"/>
                <a:ext cx="1412068" cy="90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 smtClean="0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2410904"/>
                <a:ext cx="1412068" cy="9069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220072" y="2353646"/>
                <a:ext cx="1152128" cy="964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𝑏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 smtClean="0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353646"/>
                <a:ext cx="1152128" cy="964238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11560" y="3645024"/>
                <a:ext cx="1224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𝐴𝑥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645024"/>
                <a:ext cx="1224136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447764" y="3645023"/>
                <a:ext cx="15481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764" y="3645023"/>
                <a:ext cx="1548172" cy="461665"/>
              </a:xfrm>
              <a:prstGeom prst="rect">
                <a:avLst/>
              </a:prstGeom>
              <a:blipFill rotWithShape="1">
                <a:blip r:embed="rId10"/>
                <a:stretch>
                  <a:fillRect l="-6299"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11560" y="4437112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/>
                        </a:rPr>
                        <m:t>𝐴𝑥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437112"/>
                <a:ext cx="2448272" cy="461665"/>
              </a:xfrm>
              <a:prstGeom prst="rect">
                <a:avLst/>
              </a:prstGeom>
              <a:blipFill rotWithShape="1">
                <a:blip r:embed="rId11"/>
                <a:stretch>
                  <a:fillRect l="-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295636" y="5157192"/>
                <a:ext cx="15121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636" y="5157192"/>
                <a:ext cx="1512168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CAED777-29EC-16B4-2721-A522A2966BF7}"/>
                  </a:ext>
                </a:extLst>
              </p:cNvPr>
              <p:cNvSpPr txBox="1"/>
              <p:nvPr/>
            </p:nvSpPr>
            <p:spPr>
              <a:xfrm>
                <a:off x="7618392" y="836712"/>
                <a:ext cx="413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CAED777-29EC-16B4-2721-A522A2966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392" y="836712"/>
                <a:ext cx="41379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D5E8908-A5B9-3E13-99A2-F13F4E803B3B}"/>
                  </a:ext>
                </a:extLst>
              </p:cNvPr>
              <p:cNvSpPr txBox="1"/>
              <p:nvPr/>
            </p:nvSpPr>
            <p:spPr>
              <a:xfrm>
                <a:off x="7618392" y="1136698"/>
                <a:ext cx="413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D5E8908-A5B9-3E13-99A2-F13F4E803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392" y="1136698"/>
                <a:ext cx="41379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EB474EB-C08A-A636-2B42-E87A54EC33EA}"/>
                  </a:ext>
                </a:extLst>
              </p:cNvPr>
              <p:cNvSpPr txBox="1"/>
              <p:nvPr/>
            </p:nvSpPr>
            <p:spPr>
              <a:xfrm>
                <a:off x="7618392" y="1443930"/>
                <a:ext cx="413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EB474EB-C08A-A636-2B42-E87A54EC3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392" y="1443930"/>
                <a:ext cx="41379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59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6" name="Text Box 26"/>
          <p:cNvSpPr txBox="1">
            <a:spLocks noChangeArrowheads="1"/>
          </p:cNvSpPr>
          <p:nvPr/>
        </p:nvSpPr>
        <p:spPr bwMode="auto">
          <a:xfrm>
            <a:off x="888206" y="262792"/>
            <a:ext cx="34677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矩阵方程的求法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★★★</a:t>
            </a:r>
            <a:endParaRPr kumimoji="1"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833303" y="980728"/>
                <a:ext cx="312447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  <a:sym typeface="Symbol" pitchFamily="18" charset="2"/>
                  </a:rPr>
                  <a:t>为可逆矩阵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2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303" y="980728"/>
                <a:ext cx="3124470" cy="461963"/>
              </a:xfrm>
              <a:prstGeom prst="rect">
                <a:avLst/>
              </a:prstGeom>
              <a:blipFill rotWithShape="1">
                <a:blip r:embed="rId2"/>
                <a:stretch>
                  <a:fillRect l="-3125" t="-10526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19"/>
              <p:cNvSpPr>
                <a:spLocks noChangeArrowheads="1"/>
              </p:cNvSpPr>
              <p:nvPr/>
            </p:nvSpPr>
            <p:spPr bwMode="auto">
              <a:xfrm>
                <a:off x="833304" y="1572007"/>
                <a:ext cx="136221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𝐴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𝑋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5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304" y="1572007"/>
                <a:ext cx="1362210" cy="46196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19"/>
              <p:cNvSpPr>
                <a:spLocks noChangeArrowheads="1"/>
              </p:cNvSpPr>
              <p:nvPr/>
            </p:nvSpPr>
            <p:spPr bwMode="auto">
              <a:xfrm>
                <a:off x="3341213" y="1571722"/>
                <a:ext cx="18002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𝑋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6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1213" y="1571722"/>
                <a:ext cx="1800200" cy="461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105025" y="1830342"/>
            <a:ext cx="1201737" cy="0"/>
          </a:xfrm>
          <a:prstGeom prst="line">
            <a:avLst/>
          </a:prstGeom>
          <a:noFill/>
          <a:ln w="15875" cap="sq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395538" y="1461010"/>
                <a:ext cx="6103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538" y="1461010"/>
                <a:ext cx="61035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2091333" y="1835532"/>
            <a:ext cx="12154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两边左乘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19"/>
              <p:cNvSpPr>
                <a:spLocks noChangeArrowheads="1"/>
              </p:cNvSpPr>
              <p:nvPr/>
            </p:nvSpPr>
            <p:spPr bwMode="auto">
              <a:xfrm>
                <a:off x="816954" y="2493330"/>
                <a:ext cx="136221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𝑋𝐴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6954" y="2493330"/>
                <a:ext cx="1362210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19"/>
              <p:cNvSpPr>
                <a:spLocks noChangeArrowheads="1"/>
              </p:cNvSpPr>
              <p:nvPr/>
            </p:nvSpPr>
            <p:spPr bwMode="auto">
              <a:xfrm>
                <a:off x="3324863" y="2492896"/>
                <a:ext cx="18002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𝑋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𝐶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1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4863" y="2492896"/>
                <a:ext cx="1800200" cy="4616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ine 10"/>
          <p:cNvSpPr>
            <a:spLocks noChangeShapeType="1"/>
          </p:cNvSpPr>
          <p:nvPr/>
        </p:nvSpPr>
        <p:spPr bwMode="auto">
          <a:xfrm>
            <a:off x="2088675" y="2751516"/>
            <a:ext cx="1201737" cy="0"/>
          </a:xfrm>
          <a:prstGeom prst="line">
            <a:avLst/>
          </a:prstGeom>
          <a:noFill/>
          <a:ln w="15875" cap="sq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379188" y="2382184"/>
                <a:ext cx="6103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188" y="2382184"/>
                <a:ext cx="610359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074983" y="2756706"/>
            <a:ext cx="12154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两边右乘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19"/>
              <p:cNvSpPr>
                <a:spLocks noChangeArrowheads="1"/>
              </p:cNvSpPr>
              <p:nvPr/>
            </p:nvSpPr>
            <p:spPr bwMode="auto">
              <a:xfrm>
                <a:off x="683568" y="3645458"/>
                <a:ext cx="170828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𝐴𝑋𝐵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3645458"/>
                <a:ext cx="1708281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19"/>
              <p:cNvSpPr>
                <a:spLocks noChangeArrowheads="1"/>
              </p:cNvSpPr>
              <p:nvPr/>
            </p:nvSpPr>
            <p:spPr bwMode="auto">
              <a:xfrm>
                <a:off x="3537548" y="3645024"/>
                <a:ext cx="22585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𝑋</m:t>
                      </m:r>
                      <m:r>
                        <a:rPr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𝐶</m:t>
                      </m:r>
                      <m:sSup>
                        <m:sSupPr>
                          <m:ctrlPr>
                            <a:rPr kumimoji="1"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7548" y="3645024"/>
                <a:ext cx="2258588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Line 10"/>
          <p:cNvSpPr>
            <a:spLocks noChangeShapeType="1"/>
          </p:cNvSpPr>
          <p:nvPr/>
        </p:nvSpPr>
        <p:spPr bwMode="auto">
          <a:xfrm>
            <a:off x="2301360" y="3903644"/>
            <a:ext cx="1201737" cy="0"/>
          </a:xfrm>
          <a:prstGeom prst="line">
            <a:avLst/>
          </a:prstGeom>
          <a:noFill/>
          <a:ln w="15875" cap="sq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2375233" y="3506958"/>
                <a:ext cx="10191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ea typeface="微软雅黑 Light" panose="020B0502040204020203" pitchFamily="34" charset="-122"/>
                  </a:rPr>
                  <a:t>左乘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i="1" dirty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kumimoji="1" lang="en-US" altLang="zh-CN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233" y="3506958"/>
                <a:ext cx="1019125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5389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19"/>
              <p:cNvSpPr txBox="1">
                <a:spLocks noChangeArrowheads="1"/>
              </p:cNvSpPr>
              <p:nvPr/>
            </p:nvSpPr>
            <p:spPr bwMode="auto">
              <a:xfrm>
                <a:off x="2341808" y="3922023"/>
                <a:ext cx="1215429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右乘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kumimoji="1" lang="en-US" altLang="zh-CN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𝐵</m:t>
                        </m:r>
                      </m:e>
                      <m:sup>
                        <m:r>
                          <a:rPr kumimoji="1" lang="en-US" altLang="zh-CN" i="1" dirty="0">
                            <a:latin typeface="Cambria Math"/>
                            <a:ea typeface="微软雅黑 Light" panose="020B0502040204020203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1808" y="3922023"/>
                <a:ext cx="1215429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4000" t="-8197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7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" grpId="0"/>
      <p:bldP spid="29" grpId="0"/>
      <p:bldP spid="31" grpId="0"/>
      <p:bldP spid="32" grpId="0" animBg="1"/>
      <p:bldP spid="33" grpId="0"/>
      <p:bldP spid="34" grpId="0"/>
      <p:bldP spid="36" grpId="0"/>
      <p:bldP spid="37" grpId="0" animBg="1"/>
      <p:bldP spid="38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19"/>
              <p:cNvSpPr>
                <a:spLocks noChangeArrowheads="1"/>
              </p:cNvSpPr>
              <p:nvPr/>
            </p:nvSpPr>
            <p:spPr bwMode="auto">
              <a:xfrm>
                <a:off x="220599" y="334880"/>
                <a:ext cx="197369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例</a:t>
                </a:r>
                <a:r>
                  <a:rPr lang="en-US" altLang="zh-CN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6  </a:t>
                </a:r>
                <a:r>
                  <a:rPr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2414FA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𝑋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599" y="334880"/>
                <a:ext cx="1973694" cy="461665"/>
              </a:xfrm>
              <a:prstGeom prst="rect">
                <a:avLst/>
              </a:prstGeom>
              <a:blipFill>
                <a:blip r:embed="rId2"/>
                <a:stretch>
                  <a:fillRect l="-4630" t="-10526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9"/>
              <p:cNvSpPr>
                <a:spLocks noChangeArrowheads="1"/>
              </p:cNvSpPr>
              <p:nvPr/>
            </p:nvSpPr>
            <p:spPr bwMode="auto">
              <a:xfrm>
                <a:off x="220599" y="888563"/>
                <a:ext cx="4098736" cy="7132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ea typeface="微软雅黑 Light" panose="020B0502040204020203" pitchFamily="34" charset="-122"/>
                    <a:sym typeface="Symbol" pitchFamily="18" charset="2"/>
                  </a:rPr>
                  <a:t>①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−5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1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599" y="888563"/>
                <a:ext cx="4098736" cy="713272"/>
              </a:xfrm>
              <a:prstGeom prst="rect">
                <a:avLst/>
              </a:prstGeom>
              <a:blipFill>
                <a:blip r:embed="rId3"/>
                <a:stretch>
                  <a:fillRect l="-2229" b="-85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9"/>
              <p:cNvSpPr>
                <a:spLocks noChangeArrowheads="1"/>
              </p:cNvSpPr>
              <p:nvPr/>
            </p:nvSpPr>
            <p:spPr bwMode="auto">
              <a:xfrm>
                <a:off x="220599" y="1735076"/>
                <a:ext cx="3456384" cy="7081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ea typeface="微软雅黑 Light" panose="020B0502040204020203" pitchFamily="34" charset="-122"/>
                    <a:sym typeface="Symbol" pitchFamily="18" charset="2"/>
                  </a:rPr>
                  <a:t>②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−</m:t>
                              </m:r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2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599" y="1735076"/>
                <a:ext cx="3456384" cy="708143"/>
              </a:xfrm>
              <a:prstGeom prst="rect">
                <a:avLst/>
              </a:prstGeom>
              <a:blipFill>
                <a:blip r:embed="rId4"/>
                <a:stretch>
                  <a:fillRect l="-2646" b="-172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9"/>
              <p:cNvSpPr>
                <a:spLocks noChangeArrowheads="1"/>
              </p:cNvSpPr>
              <p:nvPr/>
            </p:nvSpPr>
            <p:spPr bwMode="auto">
              <a:xfrm>
                <a:off x="220599" y="2671180"/>
                <a:ext cx="4392488" cy="7081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ea typeface="微软雅黑 Light" panose="020B0502040204020203" pitchFamily="34" charset="-122"/>
                    <a:sym typeface="Symbol" pitchFamily="18" charset="2"/>
                  </a:rPr>
                  <a:t>③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3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599" y="2671180"/>
                <a:ext cx="4392488" cy="708143"/>
              </a:xfrm>
              <a:prstGeom prst="rect">
                <a:avLst/>
              </a:prstGeom>
              <a:blipFill>
                <a:blip r:embed="rId5"/>
                <a:stretch>
                  <a:fillRect l="-2080" b="-172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293596" y="3791264"/>
            <a:ext cx="748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9"/>
              <p:cNvSpPr>
                <a:spLocks noChangeArrowheads="1"/>
              </p:cNvSpPr>
              <p:nvPr/>
            </p:nvSpPr>
            <p:spPr bwMode="auto">
              <a:xfrm>
                <a:off x="755575" y="3556136"/>
                <a:ext cx="3817867" cy="7854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ea typeface="微软雅黑 Light" panose="020B0502040204020203" pitchFamily="34" charset="-122"/>
                    <a:sym typeface="Symbol" pitchFamily="18" charset="2"/>
                  </a:rPr>
                  <a:t>①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−5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  <a:sym typeface="Symbol" pitchFamily="18" charset="2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5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5" y="3556136"/>
                <a:ext cx="3817867" cy="785471"/>
              </a:xfrm>
              <a:prstGeom prst="rect">
                <a:avLst/>
              </a:prstGeom>
              <a:blipFill>
                <a:blip r:embed="rId6"/>
                <a:stretch>
                  <a:fillRect l="-2556" b="-155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9"/>
              <p:cNvSpPr>
                <a:spLocks noChangeArrowheads="1"/>
              </p:cNvSpPr>
              <p:nvPr/>
            </p:nvSpPr>
            <p:spPr bwMode="auto">
              <a:xfrm>
                <a:off x="757018" y="4619838"/>
                <a:ext cx="3456384" cy="7791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ea typeface="微软雅黑 Light" panose="020B0502040204020203" pitchFamily="34" charset="-122"/>
                    <a:sym typeface="Symbol" pitchFamily="18" charset="2"/>
                  </a:rPr>
                  <a:t>②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  <a:sym typeface="Symbol" pitchFamily="18" charset="2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6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018" y="4619838"/>
                <a:ext cx="3456384" cy="779188"/>
              </a:xfrm>
              <a:prstGeom prst="rect">
                <a:avLst/>
              </a:prstGeom>
              <a:blipFill>
                <a:blip r:embed="rId7"/>
                <a:stretch>
                  <a:fillRect l="-2646" b="-78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9"/>
              <p:cNvSpPr>
                <a:spLocks noChangeArrowheads="1"/>
              </p:cNvSpPr>
              <p:nvPr/>
            </p:nvSpPr>
            <p:spPr bwMode="auto">
              <a:xfrm>
                <a:off x="-36512" y="5689025"/>
                <a:ext cx="4896544" cy="8010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ea typeface="微软雅黑 Light" panose="020B0502040204020203" pitchFamily="34" charset="-122"/>
                    <a:sym typeface="Symbol" pitchFamily="18" charset="2"/>
                  </a:rPr>
                  <a:t>③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  <a:sym typeface="Symbol" pitchFamily="18" charset="2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  <a:sym typeface="Symbol" pitchFamily="18" charset="2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7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6512" y="5689025"/>
                <a:ext cx="4896544" cy="801053"/>
              </a:xfrm>
              <a:prstGeom prst="rect">
                <a:avLst/>
              </a:prstGeom>
              <a:blipFill>
                <a:blip r:embed="rId8"/>
                <a:stretch>
                  <a:fillRect l="-186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9"/>
              <p:cNvSpPr>
                <a:spLocks noChangeArrowheads="1"/>
              </p:cNvSpPr>
              <p:nvPr/>
            </p:nvSpPr>
            <p:spPr bwMode="auto">
              <a:xfrm>
                <a:off x="4326497" y="3592235"/>
                <a:ext cx="2693774" cy="7132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8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6497" y="3592235"/>
                <a:ext cx="2693774" cy="7132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9"/>
              <p:cNvSpPr>
                <a:spLocks noChangeArrowheads="1"/>
              </p:cNvSpPr>
              <p:nvPr/>
            </p:nvSpPr>
            <p:spPr bwMode="auto">
              <a:xfrm>
                <a:off x="3995935" y="4617530"/>
                <a:ext cx="2627486" cy="7838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9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935" y="4617530"/>
                <a:ext cx="2627486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4469071" y="5741540"/>
                <a:ext cx="4242880" cy="7838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9071" y="5741540"/>
                <a:ext cx="4242880" cy="7838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9">
                <a:extLst>
                  <a:ext uri="{FF2B5EF4-FFF2-40B4-BE49-F238E27FC236}">
                    <a16:creationId xmlns:a16="http://schemas.microsoft.com/office/drawing/2014/main" id="{2632F38C-07DE-84B7-DD68-6B3651E791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8262" y="3575240"/>
                <a:ext cx="2088233" cy="7496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17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" name="Rectangle 19">
                <a:extLst>
                  <a:ext uri="{FF2B5EF4-FFF2-40B4-BE49-F238E27FC236}">
                    <a16:creationId xmlns:a16="http://schemas.microsoft.com/office/drawing/2014/main" id="{2632F38C-07DE-84B7-DD68-6B3651E791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8262" y="3575240"/>
                <a:ext cx="2088233" cy="7496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9">
                <a:extLst>
                  <a:ext uri="{FF2B5EF4-FFF2-40B4-BE49-F238E27FC236}">
                    <a16:creationId xmlns:a16="http://schemas.microsoft.com/office/drawing/2014/main" id="{C3662326-96A9-3D69-2A14-72BBB59C9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1674" y="4635147"/>
                <a:ext cx="1870766" cy="796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" name="Rectangle 19">
                <a:extLst>
                  <a:ext uri="{FF2B5EF4-FFF2-40B4-BE49-F238E27FC236}">
                    <a16:creationId xmlns:a16="http://schemas.microsoft.com/office/drawing/2014/main" id="{C3662326-96A9-3D69-2A14-72BBB59C9B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1674" y="4635147"/>
                <a:ext cx="1870766" cy="79611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09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9"/>
              <p:cNvSpPr>
                <a:spLocks noChangeArrowheads="1"/>
              </p:cNvSpPr>
              <p:nvPr/>
            </p:nvSpPr>
            <p:spPr bwMode="auto">
              <a:xfrm>
                <a:off x="138425" y="280141"/>
                <a:ext cx="4896544" cy="8010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ea typeface="微软雅黑 Light" panose="020B0502040204020203" pitchFamily="34" charset="-122"/>
                    <a:sym typeface="Symbol" pitchFamily="18" charset="2"/>
                  </a:rPr>
                  <a:t>③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  <a:sym typeface="Symbol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  <a:sym typeface="Symbol" pitchFamily="18" charset="2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  <a:sym typeface="Symbol" pitchFamily="18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微软雅黑 Light" panose="020B0502040204020203" pitchFamily="34" charset="-122"/>
                                <a:sym typeface="Symbol" pitchFamily="18" charset="2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2400" i="1" dirty="0">
                                      <a:latin typeface="Cambria Math"/>
                                      <a:ea typeface="微软雅黑 Light" panose="020B0502040204020203" pitchFamily="34" charset="-122"/>
                                      <a:sym typeface="Symbol" pitchFamily="18" charset="2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  <a:sym typeface="Symbol" pitchFamily="18" charset="2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7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425" y="280141"/>
                <a:ext cx="4896544" cy="801053"/>
              </a:xfrm>
              <a:prstGeom prst="rect">
                <a:avLst/>
              </a:prstGeom>
              <a:blipFill>
                <a:blip r:embed="rId2"/>
                <a:stretch>
                  <a:fillRect l="-1993" b="-7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4644008" y="332656"/>
                <a:ext cx="4242880" cy="7838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4008" y="332656"/>
                <a:ext cx="4242880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9">
                <a:extLst>
                  <a:ext uri="{FF2B5EF4-FFF2-40B4-BE49-F238E27FC236}">
                    <a16:creationId xmlns:a16="http://schemas.microsoft.com/office/drawing/2014/main" id="{9CB01860-B5C2-15B9-98CB-663935E60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1445" y="1412776"/>
                <a:ext cx="3406939" cy="796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sz="2400" i="1" dirty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" name="Rectangle 19">
                <a:extLst>
                  <a:ext uri="{FF2B5EF4-FFF2-40B4-BE49-F238E27FC236}">
                    <a16:creationId xmlns:a16="http://schemas.microsoft.com/office/drawing/2014/main" id="{9CB01860-B5C2-15B9-98CB-663935E60E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445" y="1412776"/>
                <a:ext cx="3406939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9">
                <a:extLst>
                  <a:ext uri="{FF2B5EF4-FFF2-40B4-BE49-F238E27FC236}">
                    <a16:creationId xmlns:a16="http://schemas.microsoft.com/office/drawing/2014/main" id="{02B9A0B9-F42C-EC64-9318-F3EC9FA14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3653" y="2348880"/>
                <a:ext cx="2448628" cy="796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" name="Rectangle 19">
                <a:extLst>
                  <a:ext uri="{FF2B5EF4-FFF2-40B4-BE49-F238E27FC236}">
                    <a16:creationId xmlns:a16="http://schemas.microsoft.com/office/drawing/2014/main" id="{02B9A0B9-F42C-EC64-9318-F3EC9FA14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3653" y="2348880"/>
                <a:ext cx="2448628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9">
                <a:extLst>
                  <a:ext uri="{FF2B5EF4-FFF2-40B4-BE49-F238E27FC236}">
                    <a16:creationId xmlns:a16="http://schemas.microsoft.com/office/drawing/2014/main" id="{359D8CD4-E1E8-B081-E009-A3465BF9C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3653" y="3389247"/>
                <a:ext cx="1940899" cy="7496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微软雅黑 Light" panose="020B0502040204020203" pitchFamily="34" charset="-122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微软雅黑 Light" panose="020B0502040204020203" pitchFamily="34" charset="-122"/>
                                    <a:sym typeface="Symbol" pitchFamily="18" charset="2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" name="Rectangle 19">
                <a:extLst>
                  <a:ext uri="{FF2B5EF4-FFF2-40B4-BE49-F238E27FC236}">
                    <a16:creationId xmlns:a16="http://schemas.microsoft.com/office/drawing/2014/main" id="{359D8CD4-E1E8-B081-E009-A3465BF9C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3653" y="3389247"/>
                <a:ext cx="1940899" cy="7496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268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" grpId="0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6" name="Rectangle 2"/>
          <p:cNvSpPr>
            <a:spLocks noGrp="1" noChangeArrowheads="1"/>
          </p:cNvSpPr>
          <p:nvPr>
            <p:ph type="title"/>
          </p:nvPr>
        </p:nvSpPr>
        <p:spPr>
          <a:xfrm>
            <a:off x="585364" y="750344"/>
            <a:ext cx="1295400" cy="457200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63688" y="786833"/>
                <a:ext cx="4320480" cy="420711"/>
              </a:xfrm>
            </p:spPr>
            <p:txBody>
              <a:bodyPr>
                <a:noAutofit/>
              </a:bodyPr>
              <a:lstStyle/>
              <a:p>
                <a:pPr>
                  <a:buFontTx/>
                  <a:buNone/>
                </a:pP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/>
                        <a:ea typeface="微软雅黑 Light" panose="020B0502040204020203" pitchFamily="34" charset="-122"/>
                      </a:rPr>
                      <m:t>𝜑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𝑥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)</m:t>
                    </m:r>
                  </m:oMath>
                </a14:m>
                <a:r>
                  <a:rPr lang="en-US" altLang="zh-CN" sz="2400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是复数域上的多项式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63688" y="786833"/>
                <a:ext cx="4320480" cy="420711"/>
              </a:xfrm>
              <a:blipFill rotWithShape="1">
                <a:blip r:embed="rId2"/>
                <a:stretch>
                  <a:fillRect l="-2116" t="-11594" b="-42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Text Box 5"/>
              <p:cNvSpPr txBox="1">
                <a:spLocks noChangeArrowheads="1"/>
              </p:cNvSpPr>
              <p:nvPr/>
            </p:nvSpPr>
            <p:spPr bwMode="auto">
              <a:xfrm>
                <a:off x="585364" y="2348880"/>
                <a:ext cx="4915390" cy="460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称</a:t>
                </a:r>
                <a:r>
                  <a:rPr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𝜑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为矩阵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𝑚</m:t>
                    </m:r>
                  </m:oMath>
                </a14:m>
                <a:r>
                  <a:rPr lang="en-US" altLang="zh-CN" sz="2400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次多项式</a:t>
                </a:r>
                <a:endParaRPr lang="en-US" altLang="zh-CN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07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364" y="2348880"/>
                <a:ext cx="4915390" cy="460375"/>
              </a:xfrm>
              <a:prstGeom prst="rect">
                <a:avLst/>
              </a:prstGeom>
              <a:blipFill rotWithShape="1">
                <a:blip r:embed="rId3"/>
                <a:stretch>
                  <a:fillRect l="-1861" t="-10526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585364" y="1772816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364" y="188640"/>
            <a:ext cx="518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矩阵多项式</a:t>
            </a:r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polynomial of matrix</a:t>
            </a:r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6"/>
              <p:cNvSpPr txBox="1">
                <a:spLocks noChangeArrowheads="1"/>
              </p:cNvSpPr>
              <p:nvPr/>
            </p:nvSpPr>
            <p:spPr bwMode="auto">
              <a:xfrm>
                <a:off x="585364" y="2924944"/>
                <a:ext cx="6794948" cy="4619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的两个多项式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/>
                        <a:ea typeface="微软雅黑 Light" panose="020B0502040204020203" pitchFamily="34" charset="-122"/>
                      </a:rPr>
                      <m:t>𝜑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(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𝑓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(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总 是可交换的</a:t>
                </a:r>
                <a:r>
                  <a:rPr kumimoji="1" lang="en-US" altLang="zh-CN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,</a:t>
                </a:r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即总有  </a:t>
                </a:r>
              </a:p>
            </p:txBody>
          </p:sp>
        </mc:Choice>
        <mc:Fallback xmlns="">
          <p:sp>
            <p:nvSpPr>
              <p:cNvPr id="12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364" y="2924944"/>
                <a:ext cx="6794948" cy="461962"/>
              </a:xfrm>
              <a:prstGeom prst="rect">
                <a:avLst/>
              </a:prstGeom>
              <a:blipFill rotWithShape="1">
                <a:blip r:embed="rId4"/>
                <a:stretch>
                  <a:fillRect l="-179" t="-10526" r="-179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30"/>
              <p:cNvSpPr txBox="1">
                <a:spLocks noChangeArrowheads="1"/>
              </p:cNvSpPr>
              <p:nvPr/>
            </p:nvSpPr>
            <p:spPr bwMode="auto">
              <a:xfrm>
                <a:off x="585364" y="4149080"/>
                <a:ext cx="711079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从而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的几个多项式可以像数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𝑥</m:t>
                    </m:r>
                  </m:oMath>
                </a14:m>
                <a:r>
                  <a:rPr kumimoji="1"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的多项式一样相乘  </a:t>
                </a:r>
              </a:p>
            </p:txBody>
          </p:sp>
        </mc:Choice>
        <mc:Fallback xmlns="">
          <p:sp>
            <p:nvSpPr>
              <p:cNvPr id="16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364" y="4149080"/>
                <a:ext cx="7110799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286" t="-10667" b="-3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585364" y="4725144"/>
            <a:ext cx="26111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或分解因式</a:t>
            </a:r>
            <a:r>
              <a:rPr kumimoji="1" lang="en-US" altLang="zh-CN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kumimoji="1" lang="zh-CN" altLang="en-US" sz="2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例如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3"/>
              <p:cNvSpPr txBox="1">
                <a:spLocks noChangeArrowheads="1"/>
              </p:cNvSpPr>
              <p:nvPr/>
            </p:nvSpPr>
            <p:spPr>
              <a:xfrm>
                <a:off x="1763688" y="1280097"/>
                <a:ext cx="4320480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𝜑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</m:oMath>
                </a14:m>
                <a:r>
                  <a:rPr lang="en-US" altLang="zh-CN" sz="2400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1280097"/>
                <a:ext cx="4320480" cy="420711"/>
              </a:xfrm>
              <a:prstGeom prst="rect">
                <a:avLst/>
              </a:prstGeom>
              <a:blipFill>
                <a:blip r:embed="rId6"/>
                <a:stretch>
                  <a:fillRect l="-423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3"/>
              <p:cNvSpPr txBox="1">
                <a:spLocks noChangeArrowheads="1"/>
              </p:cNvSpPr>
              <p:nvPr/>
            </p:nvSpPr>
            <p:spPr>
              <a:xfrm>
                <a:off x="1763688" y="1791060"/>
                <a:ext cx="4752528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𝜑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</m:oMath>
                </a14:m>
                <a:r>
                  <a:rPr lang="en-US" altLang="zh-CN" sz="2400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1791060"/>
                <a:ext cx="4752528" cy="420711"/>
              </a:xfrm>
              <a:prstGeom prst="rect">
                <a:avLst/>
              </a:prstGeom>
              <a:blipFill rotWithShape="1">
                <a:blip r:embed="rId7"/>
                <a:stretch>
                  <a:fillRect l="-256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26"/>
              <p:cNvSpPr txBox="1">
                <a:spLocks noChangeArrowheads="1"/>
              </p:cNvSpPr>
              <p:nvPr/>
            </p:nvSpPr>
            <p:spPr bwMode="auto">
              <a:xfrm>
                <a:off x="1763688" y="3543399"/>
                <a:ext cx="40336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𝜑</m:t>
                      </m:r>
                      <m:r>
                        <a:rPr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)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r>
                        <a:rPr lang="zh-CN" altLang="en-US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𝜑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688" y="3543399"/>
                <a:ext cx="4033600" cy="461665"/>
              </a:xfrm>
              <a:prstGeom prst="rect">
                <a:avLst/>
              </a:prstGeom>
              <a:blipFill>
                <a:blip r:embed="rId8"/>
                <a:stretch>
                  <a:fillRect l="-453"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3"/>
              <p:cNvSpPr txBox="1">
                <a:spLocks noChangeArrowheads="1"/>
              </p:cNvSpPr>
              <p:nvPr/>
            </p:nvSpPr>
            <p:spPr>
              <a:xfrm>
                <a:off x="971600" y="5316112"/>
                <a:ext cx="2736304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+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+3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2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316112"/>
                <a:ext cx="2736304" cy="420711"/>
              </a:xfrm>
              <a:prstGeom prst="rect">
                <a:avLst/>
              </a:prstGeom>
              <a:blipFill>
                <a:blip r:embed="rId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3"/>
              <p:cNvSpPr txBox="1">
                <a:spLocks noChangeArrowheads="1"/>
              </p:cNvSpPr>
              <p:nvPr/>
            </p:nvSpPr>
            <p:spPr>
              <a:xfrm>
                <a:off x="971600" y="5888609"/>
                <a:ext cx="4752528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+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2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888609"/>
                <a:ext cx="4752528" cy="420711"/>
              </a:xfrm>
              <a:prstGeom prst="rect">
                <a:avLst/>
              </a:prstGeom>
              <a:blipFill>
                <a:blip r:embed="rId10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3"/>
              <p:cNvSpPr txBox="1">
                <a:spLocks noChangeArrowheads="1"/>
              </p:cNvSpPr>
              <p:nvPr/>
            </p:nvSpPr>
            <p:spPr>
              <a:xfrm>
                <a:off x="3275856" y="5316112"/>
                <a:ext cx="2520280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+4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+3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2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5316112"/>
                <a:ext cx="2520280" cy="420711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3"/>
              <p:cNvSpPr txBox="1">
                <a:spLocks noChangeArrowheads="1"/>
              </p:cNvSpPr>
              <p:nvPr/>
            </p:nvSpPr>
            <p:spPr>
              <a:xfrm>
                <a:off x="3275856" y="5888609"/>
                <a:ext cx="2592288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=2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2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5888609"/>
                <a:ext cx="2592288" cy="420711"/>
              </a:xfrm>
              <a:prstGeom prst="rect">
                <a:avLst/>
              </a:prstGeom>
              <a:blipFill>
                <a:blip r:embed="rId12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DBFFF5C9-55FE-6BBF-2257-86F6C1E4483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36096" y="5316111"/>
                <a:ext cx="2736304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+3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+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DBFFF5C9-55FE-6BBF-2257-86F6C1E44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5316111"/>
                <a:ext cx="2736304" cy="420711"/>
              </a:xfrm>
              <a:prstGeom prst="rect">
                <a:avLst/>
              </a:prstGeom>
              <a:blipFill>
                <a:blip r:embed="rId13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8AA94576-533D-AFAB-9260-63660DEEA21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30742" y="5860811"/>
                <a:ext cx="2885674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微软雅黑 Light" panose="020B0502040204020203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2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−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  <m:t>+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8AA94576-533D-AFAB-9260-63660DEEA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742" y="5860811"/>
                <a:ext cx="2885674" cy="420711"/>
              </a:xfrm>
              <a:prstGeom prst="rect">
                <a:avLst/>
              </a:prstGeom>
              <a:blipFill>
                <a:blip r:embed="rId1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36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1" build="p"/>
      <p:bldP spid="3077" grpId="0"/>
      <p:bldP spid="3081" grpId="0"/>
      <p:bldP spid="12" grpId="0"/>
      <p:bldP spid="16" grpId="0"/>
      <p:bldP spid="17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620688"/>
            <a:ext cx="1066800" cy="609600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00044" y="692696"/>
                <a:ext cx="7392436" cy="43204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/>
                        <a:ea typeface="微软雅黑 Light" panose="020B0502040204020203" pitchFamily="34" charset="-122"/>
                      </a:rPr>
                      <m:t>𝜑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p>
                    </m:sSup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𝑥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  <m:r>
                      <m:rPr>
                        <m:nor/>
                      </m:rPr>
                      <a:rPr lang="en-US" altLang="zh-CN" sz="2400" i="1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是复数域上的多项式</a:t>
                </a:r>
              </a:p>
            </p:txBody>
          </p:sp>
        </mc:Choice>
        <mc:Fallback xmlns="">
          <p:sp>
            <p:nvSpPr>
              <p:cNvPr id="51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00044" y="692696"/>
                <a:ext cx="7392436" cy="432048"/>
              </a:xfrm>
              <a:blipFill rotWithShape="1">
                <a:blip r:embed="rId2"/>
                <a:stretch>
                  <a:fillRect l="-1237" t="-11268" b="-38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539552" y="1844824"/>
            <a:ext cx="96049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400" kern="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证：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/>
              <p:cNvSpPr txBox="1">
                <a:spLocks noChangeArrowheads="1"/>
              </p:cNvSpPr>
              <p:nvPr/>
            </p:nvSpPr>
            <p:spPr>
              <a:xfrm>
                <a:off x="1500044" y="1268760"/>
                <a:ext cx="5256584" cy="5464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>
                  <a:spcBef>
                    <a:spcPct val="20000"/>
                  </a:spcBef>
                  <a:buFontTx/>
                  <a:buNone/>
                  <a:defRPr sz="2400"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itchFamily="34" charset="0"/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Font typeface="Arial" pitchFamily="34" charset="0"/>
                  <a:buChar char="•"/>
                  <a:defRPr sz="2400"/>
                </a:lvl3pPr>
                <a:lvl4pPr marL="1600200" indent="-228600">
                  <a:spcBef>
                    <a:spcPct val="20000"/>
                  </a:spcBef>
                  <a:buFont typeface="Arial" pitchFamily="34" charset="0"/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Font typeface="Arial" pitchFamily="34" charset="0"/>
                  <a:buChar char="»"/>
                  <a:defRPr sz="2000"/>
                </a:lvl5pPr>
                <a:lvl6pPr marL="25146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9pPr>
              </a:lstStyle>
              <a:p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/>
                      </a:rPr>
                      <m:t>𝐴</m:t>
                    </m:r>
                    <m:r>
                      <a:rPr lang="en-US" altLang="zh-CN" dirty="0">
                        <a:latin typeface="Cambria Math"/>
                      </a:rPr>
                      <m:t>=</m:t>
                    </m:r>
                    <m:r>
                      <a:rPr lang="en-US" altLang="zh-CN" dirty="0">
                        <a:latin typeface="Cambria Math"/>
                      </a:rPr>
                      <m:t>𝑃</m:t>
                    </m:r>
                    <m:r>
                      <m:rPr>
                        <m:sty m:val="p"/>
                      </m:rPr>
                      <a:rPr lang="el-GR" altLang="zh-CN" dirty="0">
                        <a:latin typeface="Cambria Math"/>
                      </a:rPr>
                      <m:t>Λ</m:t>
                    </m:r>
                    <m:sSup>
                      <m:sSup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dirty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CN" dirty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zh-CN" altLang="en-US" dirty="0">
                        <a:latin typeface="Cambria Math"/>
                      </a:rPr>
                      <m:t>，则</m:t>
                    </m:r>
                    <m:r>
                      <a:rPr lang="zh-CN" altLang="en-US" dirty="0">
                        <a:latin typeface="Cambria Math"/>
                      </a:rPr>
                      <m:t>𝜑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dirty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altLang="zh-CN" dirty="0">
                        <a:latin typeface="Cambria Math"/>
                      </a:rPr>
                      <m:t>=</m:t>
                    </m:r>
                    <m:r>
                      <a:rPr lang="en-US" altLang="zh-CN" dirty="0">
                        <a:latin typeface="Cambria Math"/>
                      </a:rPr>
                      <m:t>𝑃</m:t>
                    </m:r>
                    <m:r>
                      <a:rPr lang="zh-CN" altLang="en-US" dirty="0">
                        <a:latin typeface="Cambria Math"/>
                      </a:rPr>
                      <m:t>𝜑</m:t>
                    </m:r>
                    <m:r>
                      <a:rPr lang="en-US" altLang="zh-CN" b="0" i="0" dirty="0" smtClean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l-GR" altLang="zh-CN" dirty="0">
                        <a:latin typeface="Cambria Math"/>
                      </a:rPr>
                      <m:t>Λ</m:t>
                    </m:r>
                    <m:r>
                      <a:rPr lang="en-US" altLang="zh-CN" b="0" i="0" dirty="0" smtClean="0">
                        <a:latin typeface="Cambria Math"/>
                      </a:rPr>
                      <m:t>)</m:t>
                    </m:r>
                    <m:sSup>
                      <m:sSup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dirty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CN" dirty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44" y="1268760"/>
                <a:ext cx="5256584" cy="546483"/>
              </a:xfrm>
              <a:prstGeom prst="rect">
                <a:avLst/>
              </a:prstGeom>
              <a:blipFill rotWithShape="1">
                <a:blip r:embed="rId3"/>
                <a:stretch>
                  <a:fillRect l="-1740" t="-3333" b="-1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"/>
              <p:cNvSpPr txBox="1">
                <a:spLocks noChangeArrowheads="1"/>
              </p:cNvSpPr>
              <p:nvPr/>
            </p:nvSpPr>
            <p:spPr>
              <a:xfrm>
                <a:off x="1500044" y="1907941"/>
                <a:ext cx="5256584" cy="5464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>
                  <a:spcBef>
                    <a:spcPct val="20000"/>
                  </a:spcBef>
                  <a:buFontTx/>
                  <a:buNone/>
                  <a:defRPr sz="2400"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itchFamily="34" charset="0"/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Font typeface="Arial" pitchFamily="34" charset="0"/>
                  <a:buChar char="•"/>
                  <a:defRPr sz="2400"/>
                </a:lvl3pPr>
                <a:lvl4pPr marL="1600200" indent="-228600">
                  <a:spcBef>
                    <a:spcPct val="20000"/>
                  </a:spcBef>
                  <a:buFont typeface="Arial" pitchFamily="34" charset="0"/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Font typeface="Arial" pitchFamily="34" charset="0"/>
                  <a:buChar char="»"/>
                  <a:defRPr sz="2000"/>
                </a:lvl5pPr>
                <a:lvl6pPr marL="25146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/>
                        </a:rPr>
                        <m:t>∵</m:t>
                      </m:r>
                      <m:r>
                        <a:rPr lang="en-US" altLang="zh-CN" dirty="0">
                          <a:latin typeface="Cambria Math"/>
                        </a:rPr>
                        <m:t>𝐴</m:t>
                      </m:r>
                      <m:r>
                        <a:rPr lang="en-US" altLang="zh-CN" dirty="0">
                          <a:latin typeface="Cambria Math"/>
                        </a:rPr>
                        <m:t>=</m:t>
                      </m:r>
                      <m:r>
                        <a:rPr lang="en-US" altLang="zh-CN" dirty="0">
                          <a:latin typeface="Cambria Math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l-GR" altLang="zh-CN" dirty="0">
                          <a:latin typeface="Cambria Math"/>
                        </a:rPr>
                        <m:t>Λ</m:t>
                      </m:r>
                      <m:sSup>
                        <m:sSupPr>
                          <m:ctrlPr>
                            <a:rPr lang="el-GR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dirty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dirty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zh-CN" altLang="en-US" dirty="0">
                          <a:latin typeface="Cambria Math"/>
                        </a:rPr>
                        <m:t>，</m:t>
                      </m:r>
                      <m:r>
                        <a:rPr lang="zh-CN" altLang="en-US" i="1" dirty="0" smtClean="0">
                          <a:latin typeface="Cambria Math"/>
                        </a:rPr>
                        <m:t>∴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/>
                        </a:rPr>
                        <m:t>=</m:t>
                      </m:r>
                      <m:r>
                        <a:rPr lang="en-US" altLang="zh-CN" dirty="0">
                          <a:latin typeface="Cambria Math"/>
                        </a:rPr>
                        <m:t>𝑃</m:t>
                      </m:r>
                      <m:sSup>
                        <m:sSupPr>
                          <m:ctrlPr>
                            <a:rPr lang="el-GR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dirty="0">
                              <a:latin typeface="Cambria Math"/>
                            </a:rPr>
                            <m:t>Λ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l-GR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dirty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dirty="0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44" y="1907941"/>
                <a:ext cx="5256584" cy="54648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3"/>
              <p:cNvSpPr txBox="1">
                <a:spLocks noChangeArrowheads="1"/>
              </p:cNvSpPr>
              <p:nvPr/>
            </p:nvSpPr>
            <p:spPr>
              <a:xfrm>
                <a:off x="1500044" y="2660862"/>
                <a:ext cx="4752528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/>
                        <a:ea typeface="微软雅黑 Light" panose="020B0502040204020203" pitchFamily="34" charset="-122"/>
                      </a:rPr>
                      <m:t>𝜑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</m:oMath>
                </a14:m>
                <a:r>
                  <a:rPr lang="en-US" altLang="zh-CN" sz="2400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44" y="2660862"/>
                <a:ext cx="4752528" cy="420711"/>
              </a:xfrm>
              <a:prstGeom prst="rect">
                <a:avLst/>
              </a:prstGeom>
              <a:blipFill rotWithShape="1">
                <a:blip r:embed="rId5"/>
                <a:stretch>
                  <a:fillRect l="-25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/>
              <p:cNvSpPr txBox="1">
                <a:spLocks noChangeArrowheads="1"/>
              </p:cNvSpPr>
              <p:nvPr/>
            </p:nvSpPr>
            <p:spPr>
              <a:xfrm>
                <a:off x="2267744" y="3236926"/>
                <a:ext cx="5310227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b>
                    </m:sSub>
                    <m:r>
                      <a:rPr lang="en-US" altLang="zh-CN" sz="2400" dirty="0">
                        <a:latin typeface="Cambria Math"/>
                      </a:rPr>
                      <m:t>𝑃</m:t>
                    </m:r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dirty="0">
                            <a:latin typeface="Cambria Math"/>
                          </a:rPr>
                          <m:t>Λ</m:t>
                        </m:r>
                      </m:e>
                      <m:sup>
                        <m:r>
                          <a:rPr lang="en-US" altLang="zh-CN" sz="2400" i="1" dirty="0">
                            <a:latin typeface="Cambria Math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dirty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CN" sz="2400" dirty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dirty="0">
                        <a:latin typeface="Cambria Math"/>
                      </a:rPr>
                      <m:t>𝑃</m:t>
                    </m:r>
                    <m:r>
                      <m:rPr>
                        <m:sty m:val="p"/>
                      </m:rPr>
                      <a:rPr lang="el-GR" altLang="zh-CN" sz="2400" dirty="0">
                        <a:latin typeface="Cambria Math"/>
                      </a:rPr>
                      <m:t>Λ</m:t>
                    </m:r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dirty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CN" sz="2400" dirty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</m:oMath>
                </a14:m>
                <a:r>
                  <a:rPr lang="en-US" altLang="zh-CN" sz="2400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3236926"/>
                <a:ext cx="5310227" cy="420711"/>
              </a:xfrm>
              <a:prstGeom prst="rect">
                <a:avLst/>
              </a:prstGeom>
              <a:blipFill rotWithShape="1">
                <a:blip r:embed="rId6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3"/>
              <p:cNvSpPr txBox="1">
                <a:spLocks noChangeArrowheads="1"/>
              </p:cNvSpPr>
              <p:nvPr/>
            </p:nvSpPr>
            <p:spPr>
              <a:xfrm>
                <a:off x="2267744" y="3831408"/>
                <a:ext cx="6062247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b>
                    </m:sSub>
                    <m:r>
                      <a:rPr lang="en-US" altLang="zh-CN" sz="2400" dirty="0">
                        <a:latin typeface="Cambria Math"/>
                      </a:rPr>
                      <m:t>𝑃</m:t>
                    </m:r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dirty="0">
                            <a:latin typeface="Cambria Math"/>
                          </a:rPr>
                          <m:t>Λ</m:t>
                        </m:r>
                      </m:e>
                      <m:sup>
                        <m:r>
                          <a:rPr lang="en-US" altLang="zh-CN" sz="2400" i="1" dirty="0">
                            <a:latin typeface="Cambria Math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dirty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CN" sz="2400" dirty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dirty="0">
                        <a:latin typeface="Cambria Math"/>
                      </a:rPr>
                      <m:t>𝑃</m:t>
                    </m:r>
                    <m:r>
                      <m:rPr>
                        <m:sty m:val="p"/>
                      </m:rPr>
                      <a:rPr lang="el-GR" altLang="zh-CN" sz="2400" dirty="0">
                        <a:latin typeface="Cambria Math"/>
                      </a:rPr>
                      <m:t>Λ</m:t>
                    </m:r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dirty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CN" sz="2400" dirty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</m:oMath>
                </a14:m>
                <a:r>
                  <a:rPr lang="en-US" altLang="zh-CN" sz="2400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dirty="0">
                        <a:latin typeface="Cambria Math"/>
                      </a:rPr>
                      <m:t>𝑃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dirty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CN" sz="2400" dirty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3831408"/>
                <a:ext cx="6062247" cy="420711"/>
              </a:xfrm>
              <a:prstGeom prst="rect">
                <a:avLst/>
              </a:prstGeom>
              <a:blipFill rotWithShape="1">
                <a:blip r:embed="rId7"/>
                <a:stretch>
                  <a:fillRect b="-11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/>
              <p:cNvSpPr txBox="1">
                <a:spLocks noChangeArrowheads="1"/>
              </p:cNvSpPr>
              <p:nvPr/>
            </p:nvSpPr>
            <p:spPr>
              <a:xfrm>
                <a:off x="2267744" y="4389054"/>
                <a:ext cx="6062247" cy="420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/>
                          </a:rPr>
                          <m:t>𝑃</m:t>
                        </m:r>
                        <m:r>
                          <a:rPr lang="en-US" altLang="zh-CN" sz="2400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dirty="0">
                            <a:latin typeface="Cambria Math"/>
                          </a:rPr>
                          <m:t>Λ</m:t>
                        </m:r>
                      </m:e>
                      <m:sup>
                        <m:r>
                          <a:rPr lang="en-US" altLang="zh-CN" sz="2400" i="1" dirty="0">
                            <a:latin typeface="Cambria Math"/>
                          </a:rPr>
                          <m:t>𝑚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l-GR" altLang="zh-CN" sz="2400" dirty="0">
                        <a:latin typeface="Cambria Math"/>
                      </a:rPr>
                      <m:t>Λ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+</m:t>
                    </m:r>
                  </m:oMath>
                </a14:m>
                <a:r>
                  <a:rPr lang="en-US" altLang="zh-CN" sz="2400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/>
                            <a:ea typeface="微软雅黑 Light" panose="020B0502040204020203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)</m:t>
                    </m:r>
                    <m:sSup>
                      <m:sSup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dirty="0">
                            <a:latin typeface="Cambria Math"/>
                          </a:rPr>
                          <m:t>𝑃</m:t>
                        </m:r>
                      </m:e>
                      <m:sup>
                        <m:r>
                          <a:rPr lang="en-US" altLang="zh-CN" sz="2400" dirty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4389054"/>
                <a:ext cx="6062247" cy="420711"/>
              </a:xfrm>
              <a:prstGeom prst="rect">
                <a:avLst/>
              </a:prstGeom>
              <a:blipFill rotWithShape="1">
                <a:blip r:embed="rId8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3"/>
              <p:cNvSpPr txBox="1">
                <a:spLocks noChangeArrowheads="1"/>
              </p:cNvSpPr>
              <p:nvPr/>
            </p:nvSpPr>
            <p:spPr>
              <a:xfrm>
                <a:off x="2267744" y="5037126"/>
                <a:ext cx="2641812" cy="5464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>
                  <a:spcBef>
                    <a:spcPct val="20000"/>
                  </a:spcBef>
                  <a:buFontTx/>
                  <a:buNone/>
                  <a:defRPr sz="2400"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itchFamily="34" charset="0"/>
                  <a:buChar char="–"/>
                  <a:defRPr sz="2800"/>
                </a:lvl2pPr>
                <a:lvl3pPr marL="1143000" indent="-228600">
                  <a:spcBef>
                    <a:spcPct val="20000"/>
                  </a:spcBef>
                  <a:buFont typeface="Arial" pitchFamily="34" charset="0"/>
                  <a:buChar char="•"/>
                  <a:defRPr sz="2400"/>
                </a:lvl3pPr>
                <a:lvl4pPr marL="1600200" indent="-228600">
                  <a:spcBef>
                    <a:spcPct val="20000"/>
                  </a:spcBef>
                  <a:buFont typeface="Arial" pitchFamily="34" charset="0"/>
                  <a:buChar char="–"/>
                  <a:defRPr sz="2000"/>
                </a:lvl4pPr>
                <a:lvl5pPr marL="2057400" indent="-228600">
                  <a:spcBef>
                    <a:spcPct val="20000"/>
                  </a:spcBef>
                  <a:buFont typeface="Arial" pitchFamily="34" charset="0"/>
                  <a:buChar char="»"/>
                  <a:defRPr sz="2000"/>
                </a:lvl5pPr>
                <a:lvl6pPr marL="25146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/>
                        </a:rPr>
                        <m:t>=</m:t>
                      </m:r>
                      <m:r>
                        <a:rPr lang="en-US" altLang="zh-CN" dirty="0">
                          <a:latin typeface="Cambria Math"/>
                        </a:rPr>
                        <m:t>𝑃</m:t>
                      </m:r>
                      <m:r>
                        <a:rPr lang="zh-CN" altLang="en-US" dirty="0">
                          <a:latin typeface="Cambria Math"/>
                        </a:rPr>
                        <m:t>𝜑</m:t>
                      </m:r>
                      <m:r>
                        <a:rPr lang="en-US" altLang="zh-CN" b="0" i="0" dirty="0" smtClean="0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altLang="zh-CN" dirty="0">
                          <a:latin typeface="Cambria Math"/>
                        </a:rPr>
                        <m:t>Λ</m:t>
                      </m:r>
                      <m:r>
                        <a:rPr lang="en-US" altLang="zh-CN" b="0" i="0" dirty="0" smtClean="0">
                          <a:latin typeface="Cambria Math"/>
                        </a:rPr>
                        <m:t>)</m:t>
                      </m:r>
                      <m:sSup>
                        <m:sSupPr>
                          <m:ctrlPr>
                            <a:rPr lang="el-GR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dirty="0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lang="en-US" altLang="zh-CN" dirty="0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5037126"/>
                <a:ext cx="2641812" cy="546483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57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/>
      <p:bldP spid="1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395537" y="143335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例</a:t>
            </a:r>
            <a:r>
              <a:rPr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  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3"/>
              <p:cNvSpPr txBox="1">
                <a:spLocks noChangeArrowheads="1"/>
              </p:cNvSpPr>
              <p:nvPr/>
            </p:nvSpPr>
            <p:spPr>
              <a:xfrm>
                <a:off x="1115616" y="116632"/>
                <a:ext cx="7632848" cy="9463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None/>
                </a:pP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设方阵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微软雅黑 Light" panose="020B0502040204020203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/>
                            <a:ea typeface="微软雅黑 Light" panose="020B0502040204020203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−3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−10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，证明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−4</m:t>
                    </m:r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都可逆</a:t>
                </a:r>
                <a:endParaRPr lang="en-US" altLang="zh-CN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>
                  <a:lnSpc>
                    <a:spcPct val="120000"/>
                  </a:lnSpc>
                  <a:buNone/>
                </a:pPr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并求他们的逆</a:t>
                </a:r>
              </a:p>
            </p:txBody>
          </p:sp>
        </mc:Choice>
        <mc:Fallback xmlns="">
          <p:sp>
            <p:nvSpPr>
              <p:cNvPr id="2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16632"/>
                <a:ext cx="7632848" cy="946328"/>
              </a:xfrm>
              <a:prstGeom prst="rect">
                <a:avLst/>
              </a:prstGeom>
              <a:blipFill rotWithShape="1">
                <a:blip r:embed="rId2"/>
                <a:stretch>
                  <a:fillRect l="-1198" t="-1290" b="-21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395536" y="1124746"/>
            <a:ext cx="10081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证明：</a:t>
            </a:r>
            <a:r>
              <a:rPr lang="en-US" altLang="zh-CN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411760" y="4869163"/>
                <a:ext cx="14714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−4</m:t>
                      </m:r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4869163"/>
                <a:ext cx="1471493" cy="461665"/>
              </a:xfrm>
              <a:prstGeom prst="rect">
                <a:avLst/>
              </a:prstGeom>
              <a:blipFill>
                <a:blip r:embed="rId3"/>
                <a:stretch>
                  <a:fillRect l="-3734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403647" y="112474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3646" y="383248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411760" y="1124744"/>
                <a:ext cx="2826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−3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−10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124744"/>
                <a:ext cx="2826158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411760" y="2031231"/>
                <a:ext cx="26134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−3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=10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2031231"/>
                <a:ext cx="2613472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411760" y="2427835"/>
                <a:ext cx="2946897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[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−3</m:t>
                          </m:r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] =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2427835"/>
                <a:ext cx="2946897" cy="7861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411760" y="3275090"/>
                <a:ext cx="22299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0" dirty="0">
                    <a:ea typeface="微软雅黑 Light" panose="020B0502040204020203" pitchFamily="34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可逆，且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275090"/>
                <a:ext cx="2229906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4384" t="-10526" r="-3288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707904" y="4869162"/>
                <a:ext cx="1340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(            )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4869162"/>
                <a:ext cx="1340431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45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860032" y="4869163"/>
                <a:ext cx="1131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=     </m:t>
                      </m:r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4869163"/>
                <a:ext cx="1131785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411760" y="3862206"/>
                <a:ext cx="2826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−3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−10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862206"/>
                <a:ext cx="2826158" cy="461665"/>
              </a:xfrm>
              <a:prstGeom prst="rect">
                <a:avLst/>
              </a:prstGeom>
              <a:blipFill>
                <a:blip r:embed="rId10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923928" y="4869163"/>
                <a:ext cx="474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4869163"/>
                <a:ext cx="474617" cy="46166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411760" y="4323874"/>
                <a:ext cx="13457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−3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4323874"/>
                <a:ext cx="1345753" cy="461665"/>
              </a:xfrm>
              <a:prstGeom prst="rect">
                <a:avLst/>
              </a:prstGeom>
              <a:blipFill>
                <a:blip r:embed="rId12"/>
                <a:stretch>
                  <a:fillRect l="-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139952" y="4869161"/>
                <a:ext cx="7096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869161"/>
                <a:ext cx="709681" cy="46166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91880" y="4323873"/>
                <a:ext cx="8796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−4</m:t>
                      </m:r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4323873"/>
                <a:ext cx="879600" cy="46166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211960" y="4323872"/>
                <a:ext cx="9650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=6</m:t>
                      </m:r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4323872"/>
                <a:ext cx="965072" cy="46166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269989" y="4869163"/>
                <a:ext cx="4459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微软雅黑 Light" panose="020B0502040204020203" pitchFamily="34" charset="-122"/>
                        </a:rPr>
                        <m:t>6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989" y="4869163"/>
                <a:ext cx="445955" cy="461665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411760" y="5342300"/>
                <a:ext cx="3717749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−4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)[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] =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5342300"/>
                <a:ext cx="3717749" cy="7861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411760" y="6135689"/>
                <a:ext cx="29703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0" dirty="0">
                    <a:ea typeface="微软雅黑 Light" panose="020B0502040204020203" pitchFamily="34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−4</m:t>
                    </m:r>
                    <m:r>
                      <a:rPr lang="en-US" altLang="zh-CN" sz="2400" i="1" dirty="0">
                        <a:latin typeface="Cambria Math"/>
                        <a:ea typeface="微软雅黑 Light" panose="020B0502040204020203" pitchFamily="34" charset="-122"/>
                      </a:rPr>
                      <m:t>𝐸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可逆，且</a:t>
                </a: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6135689"/>
                <a:ext cx="2970300" cy="461665"/>
              </a:xfrm>
              <a:prstGeom prst="rect">
                <a:avLst/>
              </a:prstGeom>
              <a:blipFill>
                <a:blip r:embed="rId18"/>
                <a:stretch>
                  <a:fillRect l="-3285" t="-10667" r="-2259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572000" y="3074871"/>
                <a:ext cx="2760436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−3</m:t>
                          </m:r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074871"/>
                <a:ext cx="2760436" cy="786177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358603" y="5926896"/>
                <a:ext cx="3338030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(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−4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/>
                              <a:ea typeface="微软雅黑 Light" panose="020B0502040204020203" pitchFamily="34" charset="-122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603" y="5926896"/>
                <a:ext cx="3338030" cy="786177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2411760" y="1586411"/>
                <a:ext cx="22901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/>
                              <a:ea typeface="微软雅黑 Light" panose="020B0502040204020203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−3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en-US" altLang="zh-CN" sz="2400" b="0" i="1" dirty="0" smtClean="0"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10</m:t>
                      </m:r>
                      <m:r>
                        <a:rPr lang="en-US" altLang="zh-CN" sz="2400" i="1" dirty="0"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586411"/>
                <a:ext cx="2290179" cy="461665"/>
              </a:xfrm>
              <a:prstGeom prst="rect">
                <a:avLst/>
              </a:prstGeom>
              <a:blipFill rotWithShape="1">
                <a:blip r:embed="rId22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83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4" grpId="0"/>
      <p:bldP spid="35" grpId="0"/>
      <p:bldP spid="36" grpId="0"/>
      <p:bldP spid="37" grpId="0"/>
      <p:bldP spid="39" grpId="0"/>
      <p:bldP spid="40" grpId="0"/>
      <p:bldP spid="42" grpId="0"/>
      <p:bldP spid="43" grpId="0"/>
      <p:bldP spid="45" grpId="0"/>
      <p:bldP spid="46" grpId="0"/>
      <p:bldP spid="47" grpId="0"/>
      <p:bldP spid="48" grpId="0"/>
      <p:bldP spid="49" grpId="0"/>
      <p:bldP spid="51" grpId="0"/>
      <p:bldP spid="52" grpId="0"/>
      <p:bldP spid="53" grpId="0"/>
      <p:bldP spid="54" grpId="0"/>
      <p:bldP spid="6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28948" y="1686959"/>
                <a:ext cx="17929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smtClean="0">
                        <a:solidFill>
                          <a:srgbClr val="2414FA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𝐴</m:t>
                    </m:r>
                    <m:r>
                      <a:rPr lang="zh-CN" altLang="en-US" sz="2400">
                        <a:solidFill>
                          <a:srgbClr val="2414FA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为</m:t>
                    </m:r>
                    <m:r>
                      <a:rPr lang="en-US" altLang="zh-CN" sz="2400">
                        <a:solidFill>
                          <a:srgbClr val="2414FA"/>
                        </a:solidFill>
                        <a:latin typeface="Cambria Math"/>
                        <a:ea typeface="微软雅黑 Light" panose="020B0502040204020203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2414FA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阶方阵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48" y="1686959"/>
                <a:ext cx="1792927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678" t="-10667" r="-4068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28948" y="2336627"/>
                <a:ext cx="998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可逆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48" y="2336627"/>
                <a:ext cx="998800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220" t="-10526" r="-8537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955153" y="2336627"/>
                <a:ext cx="5946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groupChr>
                    </m:oMath>
                  </m:oMathPara>
                </a14:m>
                <a:endParaRPr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153" y="2336627"/>
                <a:ext cx="594650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28866" t="-44737" r="-44330" b="-86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424839" y="2344204"/>
                <a:ext cx="20871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𝐴𝐵</m:t>
                      </m:r>
                      <m:r>
                        <a:rPr lang="en-US" altLang="zh-CN" sz="240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lang="en-US" altLang="zh-CN" sz="240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𝐵𝐴</m:t>
                      </m:r>
                      <m:r>
                        <a:rPr lang="en-US" altLang="zh-CN" sz="240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=</m:t>
                      </m:r>
                      <m:r>
                        <a:rPr lang="en-US" altLang="zh-CN" sz="2400" smtClean="0">
                          <a:solidFill>
                            <a:schemeClr val="tx1"/>
                          </a:solidFill>
                          <a:latin typeface="Cambria Math"/>
                          <a:ea typeface="微软雅黑 Light" panose="020B0502040204020203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839" y="2344204"/>
                <a:ext cx="2087173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955153" y="2798292"/>
                <a:ext cx="5946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groupChr>
                    </m:oMath>
                  </m:oMathPara>
                </a14:m>
                <a:endParaRPr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153" y="2798292"/>
                <a:ext cx="594650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28866" t="-44737" r="-44330" b="-86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424839" y="2805869"/>
                <a:ext cx="12395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≠0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839" y="2805869"/>
                <a:ext cx="1239506" cy="4616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955153" y="3270784"/>
                <a:ext cx="5946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groupChr>
                    </m:oMath>
                  </m:oMathPara>
                </a14:m>
                <a:endParaRPr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153" y="3270784"/>
                <a:ext cx="59465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8866" t="-45333" r="-44330" b="-8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424839" y="3278361"/>
                <a:ext cx="12864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𝐴𝐵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839" y="3278361"/>
                <a:ext cx="1286441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955153" y="3758568"/>
                <a:ext cx="5946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groupChr>
                    </m:oMath>
                  </m:oMathPara>
                </a14:m>
                <a:endParaRPr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153" y="3758568"/>
                <a:ext cx="594650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28866" t="-45333" r="-44330" b="-8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424839" y="3766145"/>
                <a:ext cx="12811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𝐵𝐴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𝐸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839" y="3766145"/>
                <a:ext cx="1281185" cy="4616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955153" y="4212656"/>
                <a:ext cx="5946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groupChr>
                    </m:oMath>
                  </m:oMathPara>
                </a14:m>
                <a:endParaRPr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153" y="4212656"/>
                <a:ext cx="594650" cy="461665"/>
              </a:xfrm>
              <a:prstGeom prst="rect">
                <a:avLst/>
              </a:prstGeom>
              <a:blipFill rotWithShape="1">
                <a:blip r:embed="rId11"/>
                <a:stretch>
                  <a:fillRect l="-28866" t="-44737" r="-44330" b="-86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424839" y="4220233"/>
                <a:ext cx="23182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zh-CN" altLang="en-US" sz="2400">
                          <a:latin typeface="Cambria Math"/>
                          <a:ea typeface="微软雅黑 Light" panose="020B0502040204020203" pitchFamily="34" charset="-122"/>
                        </a:rPr>
                        <m:t>为非奇异矩阵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839" y="4220233"/>
                <a:ext cx="2318263" cy="461665"/>
              </a:xfrm>
              <a:prstGeom prst="rect">
                <a:avLst/>
              </a:prstGeom>
              <a:blipFill rotWithShape="1">
                <a:blip r:embed="rId12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955153" y="4683950"/>
                <a:ext cx="5946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 b="0" i="1" dirty="0" smtClean="0">
                              <a:solidFill>
                                <a:srgbClr val="2414FA"/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groupChr>
                    </m:oMath>
                  </m:oMathPara>
                </a14:m>
                <a:endParaRPr lang="zh-CN" altLang="en-US" sz="2400" dirty="0">
                  <a:solidFill>
                    <a:srgbClr val="2414FA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153" y="4683950"/>
                <a:ext cx="594650" cy="461665"/>
              </a:xfrm>
              <a:prstGeom prst="rect">
                <a:avLst/>
              </a:prstGeom>
              <a:blipFill rotWithShape="1">
                <a:blip r:embed="rId13"/>
                <a:stretch>
                  <a:fillRect l="-28866" t="-44737" r="-44330" b="-86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424839" y="4691527"/>
                <a:ext cx="23182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/>
                          <a:ea typeface="微软雅黑 Light" panose="020B0502040204020203" pitchFamily="34" charset="-122"/>
                        </a:rPr>
                        <m:t>𝐴</m:t>
                      </m:r>
                      <m:r>
                        <a:rPr lang="zh-CN" altLang="en-US" sz="2400">
                          <a:latin typeface="Cambria Math"/>
                          <a:ea typeface="微软雅黑 Light" panose="020B0502040204020203" pitchFamily="34" charset="-122"/>
                        </a:rPr>
                        <m:t>为非退化矩阵</m:t>
                      </m:r>
                    </m:oMath>
                  </m:oMathPara>
                </a14:m>
                <a:endParaRPr lang="zh-CN" altLang="en-US" sz="24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839" y="4691527"/>
                <a:ext cx="2318263" cy="461665"/>
              </a:xfrm>
              <a:prstGeom prst="rect">
                <a:avLst/>
              </a:prstGeom>
              <a:blipFill rotWithShape="1">
                <a:blip r:embed="rId14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/>
          <p:cNvSpPr txBox="1"/>
          <p:nvPr/>
        </p:nvSpPr>
        <p:spPr>
          <a:xfrm>
            <a:off x="4139952" y="539117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2414F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小 结</a:t>
            </a:r>
          </a:p>
        </p:txBody>
      </p:sp>
      <p:sp>
        <p:nvSpPr>
          <p:cNvPr id="17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07125" y="6482195"/>
            <a:ext cx="5144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301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6887</TotalTime>
  <Words>1809</Words>
  <Application>Microsoft Office PowerPoint</Application>
  <PresentationFormat>全屏显示(4:3)</PresentationFormat>
  <Paragraphs>398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微软雅黑 Light</vt:lpstr>
      <vt:lpstr>Abel</vt:lpstr>
      <vt:lpstr>Arial</vt:lpstr>
      <vt:lpstr>Calibri</vt:lpstr>
      <vt:lpstr>Cambria Math</vt:lpstr>
      <vt:lpstr>Verdana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定义</vt:lpstr>
      <vt:lpstr>性质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WJ S</cp:lastModifiedBy>
  <cp:revision>266</cp:revision>
  <dcterms:created xsi:type="dcterms:W3CDTF">2019-03-25T03:59:42Z</dcterms:created>
  <dcterms:modified xsi:type="dcterms:W3CDTF">2023-11-09T12:45:40Z</dcterms:modified>
</cp:coreProperties>
</file>